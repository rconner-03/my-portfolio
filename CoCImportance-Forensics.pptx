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A6A15-6E39-4FFA-B5DC-89EB633E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1371600"/>
            <a:ext cx="8127574" cy="2736443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169311-3201-45EC-B973-82EC27DA5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300" y="4299358"/>
            <a:ext cx="8127574" cy="1187042"/>
          </a:xfrm>
        </p:spPr>
        <p:txBody>
          <a:bodyPr>
            <a:normAutofit/>
          </a:bodyPr>
          <a:lstStyle>
            <a:lvl1pPr marL="0" indent="0" algn="l">
              <a:buNone/>
              <a:defRPr sz="1800" cap="all" spc="2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AE4B9-EDEF-4A2C-B464-332C5C624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4C951-4861-4549-8E72-CEECA89E4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E1401-5637-41BC-AC21-89105645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57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3747-9ADB-4FCC-89CE-6E84D134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EC9C6-5D7D-4249-8820-D4C99D0AE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F35F7-46A1-40A9-ACD7-C4923992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45637-B780-4999-A87D-0039BC5A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9777F-E471-4CC5-B27B-137CB061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28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DCB1D-064E-46DE-B533-7CDA331EE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2748406"/>
            <a:ext cx="8115300" cy="273799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222C0-D002-4A94-BAFF-FD1A1CCA6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1371600"/>
            <a:ext cx="8115300" cy="133327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E7D7E-EC9F-4AA5-A559-EF556C6AD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7A8EE-88C1-400C-A23F-656DC76B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245A4-F9C6-44E9-929F-78C657C8B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453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F34F-B65E-4FA0-87E8-8890F482B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9382348" cy="1371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25A67-10CA-4531-93E1-39892C087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8297" y="2057400"/>
            <a:ext cx="4553103" cy="41250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2BE36-0CAF-4D92-9AC2-9249276B9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7000" y="2057400"/>
            <a:ext cx="4543647" cy="4125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36479-3B04-43BD-9B59-DBF6CA2BF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D4449-57DB-41D2-B49E-694E7C13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0CC2C-E50B-47D2-B62F-D5C4C9CD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591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8530B-D0F2-4FC4-A10F-1E54EF82C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755118"/>
            <a:ext cx="9378304" cy="122276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8865C-9D06-4FA3-BA3D-7187BB41B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56570-8F97-4B7E-A805-96925AC47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8300" y="2748405"/>
            <a:ext cx="4529391" cy="34412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57EF54-F63F-4730-99EE-0E472578F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87213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08453E-B012-4889-9F49-E1351532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87213" y="2748405"/>
            <a:ext cx="4529391" cy="34412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FC47A-8514-4C98-B1BE-FF6CC666C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D4301A-D375-4163-9488-27A9CDC6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ED6105-4A37-4D4B-9BE8-715FB732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3007F-6649-4D23-8869-C1CC29D00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B85A1-41F9-4BC1-9C40-3E5D5C04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23774-EAA9-47ED-87EF-EE2B29A25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26550-DD4D-45E2-8916-8314C5D06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367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5FACD-1A4D-49F3-8EA8-21B5C1A6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FD9DD-0E4E-4C36-AF85-B3EAD7FE6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6F4C8-14FA-4405-85EE-ABF53FB0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14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E7C28-5DEE-493D-ABAD-38E4F2D75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621" y="1085481"/>
            <a:ext cx="365118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E79C5-E567-4F12-96B8-8BBEAE3D8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6900" y="1132676"/>
            <a:ext cx="5289480" cy="4728374"/>
          </a:xfrm>
        </p:spPr>
        <p:txBody>
          <a:bodyPr/>
          <a:lstStyle>
            <a:lvl1pPr>
              <a:lnSpc>
                <a:spcPct val="110000"/>
              </a:lnSpc>
              <a:defRPr sz="3200"/>
            </a:lvl1pPr>
            <a:lvl2pPr>
              <a:lnSpc>
                <a:spcPct val="110000"/>
              </a:lnSpc>
              <a:defRPr sz="2800"/>
            </a:lvl2pPr>
            <a:lvl3pPr>
              <a:lnSpc>
                <a:spcPct val="110000"/>
              </a:lnSpc>
              <a:defRPr sz="2400"/>
            </a:lvl3pPr>
            <a:lvl4pPr>
              <a:lnSpc>
                <a:spcPct val="110000"/>
              </a:lnSpc>
              <a:defRPr sz="2000"/>
            </a:lvl4pPr>
            <a:lvl5pPr>
              <a:lnSpc>
                <a:spcPct val="11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3DF7F-0B5C-40CE-A65F-779FA7EFB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5621" y="2748406"/>
            <a:ext cx="365118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2248C-1826-4833-9592-383B5873A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219DC-2646-42AD-897A-EB765DCBE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238D7-4EEA-475B-B1CA-C44B89BEA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56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D65BE-C907-4660-A586-71C6A1D1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085481"/>
            <a:ext cx="365760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4C8A9-67DF-419C-B2FC-3A879CCEF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6900" y="1061885"/>
            <a:ext cx="5331069" cy="47755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A94A1-3058-402A-9C3F-2F210D91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2748406"/>
            <a:ext cx="365760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3CA50-C8D8-4F83-B2F6-BCE825866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E5BE3-7B02-4281-BD90-C1FAAF636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E256D-ACD5-438F-BA6F-605E5260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20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D0E6-AD36-493C-9DC3-5ACC2059E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B8558-FA83-4F6C-A6D1-2DF9D3F74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38299" y="2057399"/>
            <a:ext cx="8915401" cy="41148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DE619-0CC6-4480-ABDE-277D36BD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791E6-BE35-4ECA-8AD1-E8EC09B85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94606-B928-42D6-85CC-9576F60E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021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F18D8A-5002-491C-922A-E9624E2DB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882C6-2BE9-4E25-B8BB-A2346A2B0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BEFF9-B3BC-4C07-BF6C-2E3C91B54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F4CF6-CDF1-4AFD-8319-71FD4FED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1A026-57F4-47F7-B4F0-E0D48E012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268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1A689-589E-4A73-9313-EF44F7E4E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B11B8-9E77-4144-B9C1-FD164D9A1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57400"/>
            <a:ext cx="8915402" cy="4137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6E4CC-CF79-4C8D-9E5F-1BB517435A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1001475" y="1517536"/>
            <a:ext cx="28011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B6D41BCC-AD73-4203-A5A6-E62EB28B0FE6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79449-05F6-4BC7-95DF-F04E1F161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118764" y="4237870"/>
            <a:ext cx="33440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17FE5-2D1F-4ECC-9460-08145C3BB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8877" y="6319138"/>
            <a:ext cx="7106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D637F8FC-4B86-4690-8888-22AB2F781B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57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nij.ojp.gov/library/publication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505F355-D9B7-492A-91C5-52AE9D9A6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lorful leaf patterns">
            <a:extLst>
              <a:ext uri="{FF2B5EF4-FFF2-40B4-BE49-F238E27FC236}">
                <a16:creationId xmlns:a16="http://schemas.microsoft.com/office/drawing/2014/main" id="{555D9348-A9B5-AC0E-1E81-0A5C3F07F1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70" b="1437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solidFill>
            <a:schemeClr val="accent3"/>
          </a:solidFill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689BF69F-F060-4ACF-A4F5-D123BAA4B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282940" y="-51065"/>
            <a:ext cx="6858000" cy="6960127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6000">
                <a:srgbClr val="000000">
                  <a:alpha val="51000"/>
                </a:srgbClr>
              </a:gs>
              <a:gs pos="100000">
                <a:srgbClr val="000000">
                  <a:alpha val="6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75A4EF-2401-BF54-69EC-BBC3ECF97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6799" y="1371600"/>
            <a:ext cx="6114227" cy="2736443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The Importance of Chain of Custody in Digital Forensics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06B4F-8D1E-E951-4759-69744D00D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6799" y="4299358"/>
            <a:ext cx="6114227" cy="1187042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1000">
                <a:solidFill>
                  <a:srgbClr val="FFFFFF"/>
                </a:solidFill>
              </a:rPr>
              <a:t>Rebekah Cheyenne Conner</a:t>
            </a:r>
          </a:p>
          <a:p>
            <a:pPr algn="r">
              <a:lnSpc>
                <a:spcPct val="110000"/>
              </a:lnSpc>
            </a:pPr>
            <a:r>
              <a:rPr lang="en-US" sz="1000">
                <a:solidFill>
                  <a:srgbClr val="FFFFFF"/>
                </a:solidFill>
              </a:rPr>
              <a:t>ITI-4070-WB01 Network security and Cryptography</a:t>
            </a:r>
          </a:p>
          <a:p>
            <a:pPr algn="r">
              <a:lnSpc>
                <a:spcPct val="110000"/>
              </a:lnSpc>
            </a:pPr>
            <a:r>
              <a:rPr lang="en-US" sz="1000">
                <a:solidFill>
                  <a:srgbClr val="FFFFFF"/>
                </a:solidFill>
              </a:rPr>
              <a:t>Assignment #5 Chain of Custody in Digital Forensics</a:t>
            </a:r>
          </a:p>
          <a:p>
            <a:pPr algn="r">
              <a:lnSpc>
                <a:spcPct val="110000"/>
              </a:lnSpc>
            </a:pPr>
            <a:r>
              <a:rPr lang="en-US" sz="1000">
                <a:solidFill>
                  <a:srgbClr val="FFFFFF"/>
                </a:solidFill>
              </a:rPr>
              <a:t>11-11-2025</a:t>
            </a:r>
          </a:p>
        </p:txBody>
      </p:sp>
    </p:spTree>
    <p:extLst>
      <p:ext uri="{BB962C8B-B14F-4D97-AF65-F5344CB8AC3E}">
        <p14:creationId xmlns:p14="http://schemas.microsoft.com/office/powerpoint/2010/main" val="4215048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F87A3-0B49-49EE-3A7A-56DAA2659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Chain of Custody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FFFF0-267D-6A1A-23EF-8D175D2E2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chain of custody is the process of documenting and preserving evidence from the moment it is collected until it is presented in court.</a:t>
            </a:r>
          </a:p>
          <a:p>
            <a:r>
              <a:rPr lang="en-US" dirty="0"/>
              <a:t>Involves:</a:t>
            </a:r>
          </a:p>
          <a:p>
            <a:r>
              <a:rPr lang="en-US" dirty="0"/>
              <a:t>Tracking who handled evidence, when, and why</a:t>
            </a:r>
          </a:p>
          <a:p>
            <a:r>
              <a:rPr lang="en-US" dirty="0"/>
              <a:t>Maintaining a clear, chronological record of evidence control</a:t>
            </a:r>
          </a:p>
          <a:p>
            <a:r>
              <a:rPr lang="en-US" dirty="0"/>
              <a:t>Ensuring authenticity and preventing tampering</a:t>
            </a:r>
          </a:p>
          <a:p>
            <a:r>
              <a:rPr lang="en-US" dirty="0"/>
              <a:t>Why it’s critical: It ensures that digital evidence is admissible in court and that its integrity is unquestioned. Without it, even valid evidence can be ruled invalid.(Casey, 2020)</a:t>
            </a:r>
          </a:p>
        </p:txBody>
      </p:sp>
    </p:spTree>
    <p:extLst>
      <p:ext uri="{BB962C8B-B14F-4D97-AF65-F5344CB8AC3E}">
        <p14:creationId xmlns:p14="http://schemas.microsoft.com/office/powerpoint/2010/main" val="3617004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398C6-A420-6E94-A328-2F2BF9324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the Chain of Custody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9E7CB-49AC-9604-EAA5-77780C2EE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Components:</a:t>
            </a:r>
          </a:p>
          <a:p>
            <a:r>
              <a:rPr lang="en-US" dirty="0"/>
              <a:t>Collection: Properly acquire evidence using verified forensic tools</a:t>
            </a:r>
          </a:p>
          <a:p>
            <a:r>
              <a:rPr lang="en-US" dirty="0"/>
              <a:t>.Documentation: Record all details—date, time, handler, and description.</a:t>
            </a:r>
          </a:p>
          <a:p>
            <a:r>
              <a:rPr lang="en-US" dirty="0"/>
              <a:t>Storage: Securely store evidence using encryption or locked containers</a:t>
            </a:r>
          </a:p>
          <a:p>
            <a:r>
              <a:rPr lang="en-US" dirty="0"/>
              <a:t>.Transfer: Log every transfer between investigators or labs.</a:t>
            </a:r>
          </a:p>
          <a:p>
            <a:r>
              <a:rPr lang="en-US" dirty="0"/>
              <a:t>Example: Using an evidence log form with signatures and timestamps for every handoff.</a:t>
            </a:r>
          </a:p>
        </p:txBody>
      </p:sp>
    </p:spTree>
    <p:extLst>
      <p:ext uri="{BB962C8B-B14F-4D97-AF65-F5344CB8AC3E}">
        <p14:creationId xmlns:p14="http://schemas.microsoft.com/office/powerpoint/2010/main" val="1958775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E4DC5-13E8-F723-A78F-8E7C871E1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preserve Chain of Custody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D8FF6-209D-7325-A512-D7505172D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Documentation: Maintain detailed logs and unique evidence identifiers.</a:t>
            </a:r>
          </a:p>
          <a:p>
            <a:r>
              <a:rPr lang="en-US" dirty="0"/>
              <a:t>2. Secure Storage: Keep physical media in locked storage and digital data in encrypted drives.</a:t>
            </a:r>
          </a:p>
          <a:p>
            <a:r>
              <a:rPr lang="en-US" dirty="0"/>
              <a:t>3. Evidence Labeling: Use tamper-proof seals and barcode systems for identification.</a:t>
            </a:r>
          </a:p>
          <a:p>
            <a:r>
              <a:rPr lang="en-US" dirty="0"/>
              <a:t>4. Controlled Access: Limit evidence access to authorized personnel only.</a:t>
            </a:r>
          </a:p>
          <a:p>
            <a:r>
              <a:rPr lang="en-US" dirty="0"/>
              <a:t>Best Practice Example:</a:t>
            </a:r>
          </a:p>
          <a:p>
            <a:r>
              <a:rPr lang="en-US" dirty="0"/>
              <a:t>Each digital image of a hard drive is hashed with MD5 or SHA-1 to verify integrity at every stage.(Nelson, Phillips, &amp; Steuart, 2019)</a:t>
            </a:r>
          </a:p>
        </p:txBody>
      </p:sp>
    </p:spTree>
    <p:extLst>
      <p:ext uri="{BB962C8B-B14F-4D97-AF65-F5344CB8AC3E}">
        <p14:creationId xmlns:p14="http://schemas.microsoft.com/office/powerpoint/2010/main" val="4203948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5E0A7-6D15-A6CD-1B38-03F467E01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Consequences of Poor Chain of Custody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C7D13-0A57-038F-ED0E-3E4FD8101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Legal Impacts:</a:t>
            </a:r>
          </a:p>
          <a:p>
            <a:r>
              <a:rPr lang="en-US" dirty="0"/>
              <a:t>Evidence may be deemed inadmissible in court.</a:t>
            </a:r>
          </a:p>
          <a:p>
            <a:r>
              <a:rPr lang="en-US" dirty="0"/>
              <a:t>Cases may be dismissed due to lack of authenticity.</a:t>
            </a:r>
          </a:p>
          <a:p>
            <a:r>
              <a:rPr lang="en-US" dirty="0"/>
              <a:t>Integrity Risks</a:t>
            </a:r>
          </a:p>
          <a:p>
            <a:r>
              <a:rPr lang="en-US" dirty="0"/>
              <a:t>:Possibility of data tampering or corruption.</a:t>
            </a:r>
          </a:p>
          <a:p>
            <a:r>
              <a:rPr lang="en-US" dirty="0"/>
              <a:t>Loss of public and judicial trust in the investigation process.</a:t>
            </a:r>
          </a:p>
          <a:p>
            <a:r>
              <a:rPr lang="en-US" dirty="0"/>
              <a:t>Example: Improper labeling can make it impossible to prove the evidence’s origin.</a:t>
            </a:r>
          </a:p>
        </p:txBody>
      </p:sp>
    </p:spTree>
    <p:extLst>
      <p:ext uri="{BB962C8B-B14F-4D97-AF65-F5344CB8AC3E}">
        <p14:creationId xmlns:p14="http://schemas.microsoft.com/office/powerpoint/2010/main" val="860109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0E774-4F84-69CB-663F-49DE6DE17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or Hypothetical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59C45-6756-5F01-40CE-ADED6C9A3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Scenario:</a:t>
            </a:r>
          </a:p>
          <a:p>
            <a:r>
              <a:rPr lang="en-US" dirty="0"/>
              <a:t>An investigator collects a suspect’s laptop but fails to seal the evidence bag or log its transfer to the lab.</a:t>
            </a:r>
          </a:p>
          <a:p>
            <a:r>
              <a:rPr lang="en-US" dirty="0"/>
              <a:t>Result:</a:t>
            </a:r>
          </a:p>
          <a:p>
            <a:r>
              <a:rPr lang="en-US" dirty="0"/>
              <a:t>Defense argues possible alteration; evidence excluded from trial.</a:t>
            </a:r>
          </a:p>
          <a:p>
            <a:r>
              <a:rPr lang="en-US" dirty="0"/>
              <a:t>Prevention:</a:t>
            </a:r>
          </a:p>
          <a:p>
            <a:r>
              <a:rPr lang="en-US" dirty="0"/>
              <a:t>Following chain of custody protocols, sealed packaging, documented signatures, and verified hashes would have maintained admissibility.(Maras, 2022)</a:t>
            </a:r>
          </a:p>
        </p:txBody>
      </p:sp>
    </p:spTree>
    <p:extLst>
      <p:ext uri="{BB962C8B-B14F-4D97-AF65-F5344CB8AC3E}">
        <p14:creationId xmlns:p14="http://schemas.microsoft.com/office/powerpoint/2010/main" val="2913309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5406-CC46-F0D6-584B-50253FB8E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and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536B3-AD04-E322-56C7-0F9AACFFF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Takeaways:</a:t>
            </a:r>
          </a:p>
          <a:p>
            <a:r>
              <a:rPr lang="en-US" dirty="0"/>
              <a:t>The chain of custody ensures trust and credibility in digital evidence.</a:t>
            </a:r>
          </a:p>
          <a:p>
            <a:r>
              <a:rPr lang="en-US" dirty="0"/>
              <a:t>Proper documentation, secure handling, and limited access prevent disputes.</a:t>
            </a:r>
          </a:p>
          <a:p>
            <a:r>
              <a:rPr lang="en-US" dirty="0"/>
              <a:t>Every investigator must treat digital evidence as a critical legal artifact.</a:t>
            </a:r>
          </a:p>
          <a:p>
            <a:r>
              <a:rPr lang="en-US" dirty="0"/>
              <a:t>Best Practice Summary:</a:t>
            </a:r>
          </a:p>
          <a:p>
            <a:r>
              <a:rPr lang="en-US" dirty="0"/>
              <a:t>Document thoroughly</a:t>
            </a:r>
          </a:p>
          <a:p>
            <a:r>
              <a:rPr lang="en-US" dirty="0"/>
              <a:t>Securely store and label</a:t>
            </a:r>
          </a:p>
          <a:p>
            <a:r>
              <a:rPr lang="en-US" dirty="0"/>
              <a:t>Verify integrity with hash values</a:t>
            </a:r>
          </a:p>
          <a:p>
            <a:r>
              <a:rPr lang="en-US" dirty="0"/>
              <a:t>Maintain continuous accountability</a:t>
            </a:r>
          </a:p>
        </p:txBody>
      </p:sp>
    </p:spTree>
    <p:extLst>
      <p:ext uri="{BB962C8B-B14F-4D97-AF65-F5344CB8AC3E}">
        <p14:creationId xmlns:p14="http://schemas.microsoft.com/office/powerpoint/2010/main" val="2611034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ED23-3A33-51A5-54C2-314715E1C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C4EF8-283E-B2A7-AE98-2724DAB4A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Casey, E. (2020). Digital evidence and computer crime: Forensic science, computers, and the internet (4th ed.). Academic Press.</a:t>
            </a:r>
          </a:p>
          <a:p>
            <a:r>
              <a:rPr lang="en-US" dirty="0"/>
              <a:t>Maras, M.-H. (2022). </a:t>
            </a:r>
            <a:r>
              <a:rPr lang="en-US" dirty="0" err="1"/>
              <a:t>Cybercriminology</a:t>
            </a:r>
            <a:r>
              <a:rPr lang="en-US" dirty="0"/>
              <a:t> (3rd ed.). Oxford University Press.</a:t>
            </a:r>
          </a:p>
          <a:p>
            <a:r>
              <a:rPr lang="en-US" dirty="0"/>
              <a:t>Nelson, B., Phillips, A., &amp; Steuart, C. (2019). Guide to computer forensics and investigations (6th ed.). Cengage Learning.</a:t>
            </a:r>
          </a:p>
          <a:p>
            <a:r>
              <a:rPr lang="en-US" dirty="0"/>
              <a:t>U.S. Department of Justice. (2023). Electronic Crime Scene Investigation: A Guide for First Responders. National Institute of Justice.  </a:t>
            </a:r>
            <a:r>
              <a:rPr lang="en-US" dirty="0">
                <a:hlinkClick r:id="rId2"/>
              </a:rPr>
              <a:t>https://nij.ojp.gov/library/publications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63006337"/>
      </p:ext>
    </p:extLst>
  </p:cSld>
  <p:clrMapOvr>
    <a:masterClrMapping/>
  </p:clrMapOvr>
</p:sld>
</file>

<file path=ppt/theme/theme1.xml><?xml version="1.0" encoding="utf-8"?>
<a:theme xmlns:a="http://schemas.openxmlformats.org/drawingml/2006/main" name="EncaseVTI">
  <a:themeElements>
    <a:clrScheme name="Encase">
      <a:dk1>
        <a:sysClr val="windowText" lastClr="000000"/>
      </a:dk1>
      <a:lt1>
        <a:sysClr val="window" lastClr="FFFFFF"/>
      </a:lt1>
      <a:dk2>
        <a:srgbClr val="1E2121"/>
      </a:dk2>
      <a:lt2>
        <a:srgbClr val="EFECEB"/>
      </a:lt2>
      <a:accent1>
        <a:srgbClr val="717059"/>
      </a:accent1>
      <a:accent2>
        <a:srgbClr val="B9A17E"/>
      </a:accent2>
      <a:accent3>
        <a:srgbClr val="766752"/>
      </a:accent3>
      <a:accent4>
        <a:srgbClr val="A28578"/>
      </a:accent4>
      <a:accent5>
        <a:srgbClr val="6E736D"/>
      </a:accent5>
      <a:accent6>
        <a:srgbClr val="BE8366"/>
      </a:accent6>
      <a:hlink>
        <a:srgbClr val="B5714F"/>
      </a:hlink>
      <a:folHlink>
        <a:srgbClr val="7B6B4C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ncaseVTI" id="{C293990F-FDB3-4ED3-8175-FB79CE5A2A12}" vid="{A5662C19-271F-459F-B4ED-861A9823764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586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Avenir Next LT Pro</vt:lpstr>
      <vt:lpstr>Avenir Next LT Pro Light</vt:lpstr>
      <vt:lpstr>EncaseVTI</vt:lpstr>
      <vt:lpstr>The Importance of Chain of Custody in Digital Forensics</vt:lpstr>
      <vt:lpstr>Definition of Chain of Custody</vt:lpstr>
      <vt:lpstr>Components of the Chain of Custody</vt:lpstr>
      <vt:lpstr>Steps to preserve Chain of Custody</vt:lpstr>
      <vt:lpstr>Consequences of Poor Chain of Custody</vt:lpstr>
      <vt:lpstr>Real World or Hypothetical Scenarios</vt:lpstr>
      <vt:lpstr>Reflection and Best Practices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cheyenne conner</dc:creator>
  <cp:lastModifiedBy>cheyenne conner</cp:lastModifiedBy>
  <cp:revision>1</cp:revision>
  <dcterms:created xsi:type="dcterms:W3CDTF">2025-11-12T00:19:18Z</dcterms:created>
  <dcterms:modified xsi:type="dcterms:W3CDTF">2025-11-12T00:34:17Z</dcterms:modified>
</cp:coreProperties>
</file>