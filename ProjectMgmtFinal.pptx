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CCEF75-13BF-48A3-893A-6FD82584389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6803683C-D794-41A7-9298-6CFCC2EA8008}">
      <dgm:prSet/>
      <dgm:spPr/>
      <dgm:t>
        <a:bodyPr/>
        <a:lstStyle/>
        <a:p>
          <a:r>
            <a:rPr lang="en-US"/>
            <a:t>Deliverables:</a:t>
          </a:r>
        </a:p>
      </dgm:t>
    </dgm:pt>
    <dgm:pt modelId="{3BF0100D-519C-4224-9BA4-7FCA6422F469}" type="parTrans" cxnId="{A193CA6D-4BEE-487A-AF18-7C344577C496}">
      <dgm:prSet/>
      <dgm:spPr/>
      <dgm:t>
        <a:bodyPr/>
        <a:lstStyle/>
        <a:p>
          <a:endParaRPr lang="en-US"/>
        </a:p>
      </dgm:t>
    </dgm:pt>
    <dgm:pt modelId="{F6DDB460-F1B6-40F8-9517-86B6B2E1932D}" type="sibTrans" cxnId="{A193CA6D-4BEE-487A-AF18-7C344577C496}">
      <dgm:prSet/>
      <dgm:spPr/>
      <dgm:t>
        <a:bodyPr/>
        <a:lstStyle/>
        <a:p>
          <a:endParaRPr lang="en-US"/>
        </a:p>
      </dgm:t>
    </dgm:pt>
    <dgm:pt modelId="{794354CC-118F-481E-8350-25E888D8E457}">
      <dgm:prSet/>
      <dgm:spPr/>
      <dgm:t>
        <a:bodyPr/>
        <a:lstStyle/>
        <a:p>
          <a:r>
            <a:rPr lang="en-US"/>
            <a:t>Project Plan: Detailed documentation of the project’s scope, timeline, cost estimate, risk management plan, etc.</a:t>
          </a:r>
        </a:p>
      </dgm:t>
    </dgm:pt>
    <dgm:pt modelId="{DF2D1C83-8FFB-442D-B8F0-4F6FAA6E2E7E}" type="parTrans" cxnId="{71CFAB4C-EABF-4117-ABF7-6FD905A5A257}">
      <dgm:prSet/>
      <dgm:spPr/>
      <dgm:t>
        <a:bodyPr/>
        <a:lstStyle/>
        <a:p>
          <a:endParaRPr lang="en-US"/>
        </a:p>
      </dgm:t>
    </dgm:pt>
    <dgm:pt modelId="{B921374F-CEA9-4FE3-A989-9303BFE49177}" type="sibTrans" cxnId="{71CFAB4C-EABF-4117-ABF7-6FD905A5A257}">
      <dgm:prSet/>
      <dgm:spPr/>
      <dgm:t>
        <a:bodyPr/>
        <a:lstStyle/>
        <a:p>
          <a:endParaRPr lang="en-US"/>
        </a:p>
      </dgm:t>
    </dgm:pt>
    <dgm:pt modelId="{856D58DE-A6AB-4721-8C03-3855EC4D7CCB}">
      <dgm:prSet/>
      <dgm:spPr/>
      <dgm:t>
        <a:bodyPr/>
        <a:lstStyle/>
        <a:p>
          <a:r>
            <a:rPr lang="en-US"/>
            <a:t>App Design: Completed app interface design and user experience mockups.</a:t>
          </a:r>
        </a:p>
      </dgm:t>
    </dgm:pt>
    <dgm:pt modelId="{30891921-1436-4A0C-88F3-02809355DF7B}" type="parTrans" cxnId="{038130EA-69B6-4D60-88CD-ACE6C0FBC2F8}">
      <dgm:prSet/>
      <dgm:spPr/>
      <dgm:t>
        <a:bodyPr/>
        <a:lstStyle/>
        <a:p>
          <a:endParaRPr lang="en-US"/>
        </a:p>
      </dgm:t>
    </dgm:pt>
    <dgm:pt modelId="{2E5A53BE-F9E6-4E6F-948C-F94FFE6D3611}" type="sibTrans" cxnId="{038130EA-69B6-4D60-88CD-ACE6C0FBC2F8}">
      <dgm:prSet/>
      <dgm:spPr/>
      <dgm:t>
        <a:bodyPr/>
        <a:lstStyle/>
        <a:p>
          <a:endParaRPr lang="en-US"/>
        </a:p>
      </dgm:t>
    </dgm:pt>
    <dgm:pt modelId="{ABD11024-E7E2-49A6-925D-CD5CB369BC53}">
      <dgm:prSet/>
      <dgm:spPr/>
      <dgm:t>
        <a:bodyPr/>
        <a:lstStyle/>
        <a:p>
          <a:r>
            <a:rPr lang="en-US"/>
            <a:t>Prototype: A working prototype of the app for initial testing.</a:t>
          </a:r>
        </a:p>
      </dgm:t>
    </dgm:pt>
    <dgm:pt modelId="{76323B04-0827-4E4E-93D4-9F5A53542452}" type="parTrans" cxnId="{7932F40F-1CDE-4E8B-A861-0DB65497C412}">
      <dgm:prSet/>
      <dgm:spPr/>
      <dgm:t>
        <a:bodyPr/>
        <a:lstStyle/>
        <a:p>
          <a:endParaRPr lang="en-US"/>
        </a:p>
      </dgm:t>
    </dgm:pt>
    <dgm:pt modelId="{C983F4CA-E09F-4D42-A4A8-D7012ABD0B83}" type="sibTrans" cxnId="{7932F40F-1CDE-4E8B-A861-0DB65497C412}">
      <dgm:prSet/>
      <dgm:spPr/>
      <dgm:t>
        <a:bodyPr/>
        <a:lstStyle/>
        <a:p>
          <a:endParaRPr lang="en-US"/>
        </a:p>
      </dgm:t>
    </dgm:pt>
    <dgm:pt modelId="{F23BB54C-C42B-4F52-9C63-F00CA8048CD5}">
      <dgm:prSet/>
      <dgm:spPr/>
      <dgm:t>
        <a:bodyPr/>
        <a:lstStyle/>
        <a:p>
          <a:r>
            <a:rPr lang="en-US"/>
            <a:t>App Testing: Completed functional, user acceptance, and security testing.</a:t>
          </a:r>
        </a:p>
      </dgm:t>
    </dgm:pt>
    <dgm:pt modelId="{8E132C75-0DB8-412E-93C2-2E0CB3002361}" type="parTrans" cxnId="{F38D0149-1D27-40C8-9CA4-110F4BA2746F}">
      <dgm:prSet/>
      <dgm:spPr/>
      <dgm:t>
        <a:bodyPr/>
        <a:lstStyle/>
        <a:p>
          <a:endParaRPr lang="en-US"/>
        </a:p>
      </dgm:t>
    </dgm:pt>
    <dgm:pt modelId="{20040A20-4D6D-403F-A4B5-9151A55365F2}" type="sibTrans" cxnId="{F38D0149-1D27-40C8-9CA4-110F4BA2746F}">
      <dgm:prSet/>
      <dgm:spPr/>
      <dgm:t>
        <a:bodyPr/>
        <a:lstStyle/>
        <a:p>
          <a:endParaRPr lang="en-US"/>
        </a:p>
      </dgm:t>
    </dgm:pt>
    <dgm:pt modelId="{4D4CA3BF-A5BA-4D8A-BC20-F7008C4448FC}">
      <dgm:prSet/>
      <dgm:spPr/>
      <dgm:t>
        <a:bodyPr/>
        <a:lstStyle/>
        <a:p>
          <a:r>
            <a:rPr lang="en-US"/>
            <a:t>Launch Rollout: A successful initial rollout to a limited number of users for live testing.</a:t>
          </a:r>
        </a:p>
      </dgm:t>
    </dgm:pt>
    <dgm:pt modelId="{B7DEDD4F-27EC-410D-BCCA-AEDDD4007011}" type="parTrans" cxnId="{A03B7F7F-4731-4D2F-BB16-7B20776391BB}">
      <dgm:prSet/>
      <dgm:spPr/>
      <dgm:t>
        <a:bodyPr/>
        <a:lstStyle/>
        <a:p>
          <a:endParaRPr lang="en-US"/>
        </a:p>
      </dgm:t>
    </dgm:pt>
    <dgm:pt modelId="{4DBD648A-B5A2-464F-B28C-0381FBE13057}" type="sibTrans" cxnId="{A03B7F7F-4731-4D2F-BB16-7B20776391BB}">
      <dgm:prSet/>
      <dgm:spPr/>
      <dgm:t>
        <a:bodyPr/>
        <a:lstStyle/>
        <a:p>
          <a:endParaRPr lang="en-US"/>
        </a:p>
      </dgm:t>
    </dgm:pt>
    <dgm:pt modelId="{C4E1949C-5CA5-42B4-BAEB-A551138FE30E}">
      <dgm:prSet/>
      <dgm:spPr/>
      <dgm:t>
        <a:bodyPr/>
        <a:lstStyle/>
        <a:p>
          <a:r>
            <a:rPr lang="en-US"/>
            <a:t>Final App Version: The fully developed and operational mobile application.</a:t>
          </a:r>
        </a:p>
      </dgm:t>
    </dgm:pt>
    <dgm:pt modelId="{683789A4-A901-4525-89E9-949AC5728819}" type="parTrans" cxnId="{535F161A-237C-4AF4-AE2D-46B293EAD912}">
      <dgm:prSet/>
      <dgm:spPr/>
      <dgm:t>
        <a:bodyPr/>
        <a:lstStyle/>
        <a:p>
          <a:endParaRPr lang="en-US"/>
        </a:p>
      </dgm:t>
    </dgm:pt>
    <dgm:pt modelId="{61FC57C9-110A-423A-9F25-CA1D6BAE5960}" type="sibTrans" cxnId="{535F161A-237C-4AF4-AE2D-46B293EAD912}">
      <dgm:prSet/>
      <dgm:spPr/>
      <dgm:t>
        <a:bodyPr/>
        <a:lstStyle/>
        <a:p>
          <a:endParaRPr lang="en-US"/>
        </a:p>
      </dgm:t>
    </dgm:pt>
    <dgm:pt modelId="{70170A3A-CDF5-45DE-93AC-3F3DFCAB283B}">
      <dgm:prSet/>
      <dgm:spPr/>
      <dgm:t>
        <a:bodyPr/>
        <a:lstStyle/>
        <a:p>
          <a:r>
            <a:rPr lang="en-US"/>
            <a:t>User Guide: A comprehensive guide on how to use the Pulse App.</a:t>
          </a:r>
        </a:p>
      </dgm:t>
    </dgm:pt>
    <dgm:pt modelId="{31CCEDF7-72CC-4B7F-BD5B-D03A31EB2677}" type="parTrans" cxnId="{6BD1E1FA-3092-42B2-8ACD-4FDB5F210C44}">
      <dgm:prSet/>
      <dgm:spPr/>
      <dgm:t>
        <a:bodyPr/>
        <a:lstStyle/>
        <a:p>
          <a:endParaRPr lang="en-US"/>
        </a:p>
      </dgm:t>
    </dgm:pt>
    <dgm:pt modelId="{DD5E67A1-5F37-44AD-9AC7-62D394498DBC}" type="sibTrans" cxnId="{6BD1E1FA-3092-42B2-8ACD-4FDB5F210C44}">
      <dgm:prSet/>
      <dgm:spPr/>
      <dgm:t>
        <a:bodyPr/>
        <a:lstStyle/>
        <a:p>
          <a:endParaRPr lang="en-US"/>
        </a:p>
      </dgm:t>
    </dgm:pt>
    <dgm:pt modelId="{9E8AA518-0E2F-4F48-98A2-8A11D86123F1}">
      <dgm:prSet/>
      <dgm:spPr/>
      <dgm:t>
        <a:bodyPr/>
        <a:lstStyle/>
        <a:p>
          <a:r>
            <a:rPr lang="en-US"/>
            <a:t>Post-launch Support: Technical support to handle user feedback and any bugs that may arise after launch.</a:t>
          </a:r>
        </a:p>
      </dgm:t>
    </dgm:pt>
    <dgm:pt modelId="{510D95CE-3142-48E5-91C9-946453BC6527}" type="parTrans" cxnId="{11675D3F-B0B6-42ED-90A0-E73B085E321B}">
      <dgm:prSet/>
      <dgm:spPr/>
      <dgm:t>
        <a:bodyPr/>
        <a:lstStyle/>
        <a:p>
          <a:endParaRPr lang="en-US"/>
        </a:p>
      </dgm:t>
    </dgm:pt>
    <dgm:pt modelId="{775316CE-BE63-42E7-B764-333EDD4BC117}" type="sibTrans" cxnId="{11675D3F-B0B6-42ED-90A0-E73B085E321B}">
      <dgm:prSet/>
      <dgm:spPr/>
      <dgm:t>
        <a:bodyPr/>
        <a:lstStyle/>
        <a:p>
          <a:endParaRPr lang="en-US"/>
        </a:p>
      </dgm:t>
    </dgm:pt>
    <dgm:pt modelId="{8F603DD1-CB43-4472-B958-572EC40509D0}" type="pres">
      <dgm:prSet presAssocID="{09CCEF75-13BF-48A3-893A-6FD825843896}" presName="vert0" presStyleCnt="0">
        <dgm:presLayoutVars>
          <dgm:dir/>
          <dgm:animOne val="branch"/>
          <dgm:animLvl val="lvl"/>
        </dgm:presLayoutVars>
      </dgm:prSet>
      <dgm:spPr/>
    </dgm:pt>
    <dgm:pt modelId="{7AC43FE8-90D0-4792-9D63-5481ED4AA44C}" type="pres">
      <dgm:prSet presAssocID="{6803683C-D794-41A7-9298-6CFCC2EA8008}" presName="thickLine" presStyleLbl="alignNode1" presStyleIdx="0" presStyleCnt="9"/>
      <dgm:spPr/>
    </dgm:pt>
    <dgm:pt modelId="{7CF7564C-F859-4A80-A326-92B79D5C10D2}" type="pres">
      <dgm:prSet presAssocID="{6803683C-D794-41A7-9298-6CFCC2EA8008}" presName="horz1" presStyleCnt="0"/>
      <dgm:spPr/>
    </dgm:pt>
    <dgm:pt modelId="{10A942EA-54F7-48F2-A68A-6080F040024B}" type="pres">
      <dgm:prSet presAssocID="{6803683C-D794-41A7-9298-6CFCC2EA8008}" presName="tx1" presStyleLbl="revTx" presStyleIdx="0" presStyleCnt="9"/>
      <dgm:spPr/>
    </dgm:pt>
    <dgm:pt modelId="{C8464374-13E3-46C8-B57C-FA7FC2364BA7}" type="pres">
      <dgm:prSet presAssocID="{6803683C-D794-41A7-9298-6CFCC2EA8008}" presName="vert1" presStyleCnt="0"/>
      <dgm:spPr/>
    </dgm:pt>
    <dgm:pt modelId="{C0E2A3F9-6382-415C-93CF-8917F80A7F7C}" type="pres">
      <dgm:prSet presAssocID="{794354CC-118F-481E-8350-25E888D8E457}" presName="thickLine" presStyleLbl="alignNode1" presStyleIdx="1" presStyleCnt="9"/>
      <dgm:spPr/>
    </dgm:pt>
    <dgm:pt modelId="{0B03E9BA-860A-43CA-B89A-7B41AEEEAA6C}" type="pres">
      <dgm:prSet presAssocID="{794354CC-118F-481E-8350-25E888D8E457}" presName="horz1" presStyleCnt="0"/>
      <dgm:spPr/>
    </dgm:pt>
    <dgm:pt modelId="{2E37BEDD-467B-4C40-8B46-81D382E5F70B}" type="pres">
      <dgm:prSet presAssocID="{794354CC-118F-481E-8350-25E888D8E457}" presName="tx1" presStyleLbl="revTx" presStyleIdx="1" presStyleCnt="9"/>
      <dgm:spPr/>
    </dgm:pt>
    <dgm:pt modelId="{285D94D2-42C5-4845-9D1D-CBBD4E190FAE}" type="pres">
      <dgm:prSet presAssocID="{794354CC-118F-481E-8350-25E888D8E457}" presName="vert1" presStyleCnt="0"/>
      <dgm:spPr/>
    </dgm:pt>
    <dgm:pt modelId="{D284DA40-71D9-489F-965E-8D858D7BFB9D}" type="pres">
      <dgm:prSet presAssocID="{856D58DE-A6AB-4721-8C03-3855EC4D7CCB}" presName="thickLine" presStyleLbl="alignNode1" presStyleIdx="2" presStyleCnt="9"/>
      <dgm:spPr/>
    </dgm:pt>
    <dgm:pt modelId="{867AD10B-A663-4E70-AA7D-D8440C4B3C31}" type="pres">
      <dgm:prSet presAssocID="{856D58DE-A6AB-4721-8C03-3855EC4D7CCB}" presName="horz1" presStyleCnt="0"/>
      <dgm:spPr/>
    </dgm:pt>
    <dgm:pt modelId="{B483BD25-15D8-4A5C-944B-AF7F845D86F3}" type="pres">
      <dgm:prSet presAssocID="{856D58DE-A6AB-4721-8C03-3855EC4D7CCB}" presName="tx1" presStyleLbl="revTx" presStyleIdx="2" presStyleCnt="9"/>
      <dgm:spPr/>
    </dgm:pt>
    <dgm:pt modelId="{DEEECCD9-924C-40A6-AECF-71653388ED34}" type="pres">
      <dgm:prSet presAssocID="{856D58DE-A6AB-4721-8C03-3855EC4D7CCB}" presName="vert1" presStyleCnt="0"/>
      <dgm:spPr/>
    </dgm:pt>
    <dgm:pt modelId="{4B7A3A62-C567-4ECC-BAF1-F99911895CFD}" type="pres">
      <dgm:prSet presAssocID="{ABD11024-E7E2-49A6-925D-CD5CB369BC53}" presName="thickLine" presStyleLbl="alignNode1" presStyleIdx="3" presStyleCnt="9"/>
      <dgm:spPr/>
    </dgm:pt>
    <dgm:pt modelId="{99FFD7EA-7357-434C-A4C5-7A38CD2DB458}" type="pres">
      <dgm:prSet presAssocID="{ABD11024-E7E2-49A6-925D-CD5CB369BC53}" presName="horz1" presStyleCnt="0"/>
      <dgm:spPr/>
    </dgm:pt>
    <dgm:pt modelId="{14E09F93-2445-4022-AD73-9303C463601A}" type="pres">
      <dgm:prSet presAssocID="{ABD11024-E7E2-49A6-925D-CD5CB369BC53}" presName="tx1" presStyleLbl="revTx" presStyleIdx="3" presStyleCnt="9"/>
      <dgm:spPr/>
    </dgm:pt>
    <dgm:pt modelId="{864E0B79-0778-44BC-986B-F43FE65B5E1A}" type="pres">
      <dgm:prSet presAssocID="{ABD11024-E7E2-49A6-925D-CD5CB369BC53}" presName="vert1" presStyleCnt="0"/>
      <dgm:spPr/>
    </dgm:pt>
    <dgm:pt modelId="{0C26CAB0-84E7-47BA-8E9F-1101F0616B71}" type="pres">
      <dgm:prSet presAssocID="{F23BB54C-C42B-4F52-9C63-F00CA8048CD5}" presName="thickLine" presStyleLbl="alignNode1" presStyleIdx="4" presStyleCnt="9"/>
      <dgm:spPr/>
    </dgm:pt>
    <dgm:pt modelId="{56FC0E0E-6D20-4B83-BFF3-061C7710E1F7}" type="pres">
      <dgm:prSet presAssocID="{F23BB54C-C42B-4F52-9C63-F00CA8048CD5}" presName="horz1" presStyleCnt="0"/>
      <dgm:spPr/>
    </dgm:pt>
    <dgm:pt modelId="{BBEB4CA4-4820-4473-BFAB-5ADA1F595475}" type="pres">
      <dgm:prSet presAssocID="{F23BB54C-C42B-4F52-9C63-F00CA8048CD5}" presName="tx1" presStyleLbl="revTx" presStyleIdx="4" presStyleCnt="9"/>
      <dgm:spPr/>
    </dgm:pt>
    <dgm:pt modelId="{1DB61713-1226-477E-98E6-148EE56C1AAF}" type="pres">
      <dgm:prSet presAssocID="{F23BB54C-C42B-4F52-9C63-F00CA8048CD5}" presName="vert1" presStyleCnt="0"/>
      <dgm:spPr/>
    </dgm:pt>
    <dgm:pt modelId="{9C332E3B-7F34-4196-B29A-DF5A6EBB94F7}" type="pres">
      <dgm:prSet presAssocID="{4D4CA3BF-A5BA-4D8A-BC20-F7008C4448FC}" presName="thickLine" presStyleLbl="alignNode1" presStyleIdx="5" presStyleCnt="9"/>
      <dgm:spPr/>
    </dgm:pt>
    <dgm:pt modelId="{481664B2-05B1-4304-B9B2-3404383584ED}" type="pres">
      <dgm:prSet presAssocID="{4D4CA3BF-A5BA-4D8A-BC20-F7008C4448FC}" presName="horz1" presStyleCnt="0"/>
      <dgm:spPr/>
    </dgm:pt>
    <dgm:pt modelId="{9F223E0A-6D47-4A07-9EB0-B2814B21A75F}" type="pres">
      <dgm:prSet presAssocID="{4D4CA3BF-A5BA-4D8A-BC20-F7008C4448FC}" presName="tx1" presStyleLbl="revTx" presStyleIdx="5" presStyleCnt="9"/>
      <dgm:spPr/>
    </dgm:pt>
    <dgm:pt modelId="{530E4393-EADC-498D-A82C-1AE1E86A5A66}" type="pres">
      <dgm:prSet presAssocID="{4D4CA3BF-A5BA-4D8A-BC20-F7008C4448FC}" presName="vert1" presStyleCnt="0"/>
      <dgm:spPr/>
    </dgm:pt>
    <dgm:pt modelId="{BA760A8F-12C6-4CB9-BE31-EF118C7D459A}" type="pres">
      <dgm:prSet presAssocID="{C4E1949C-5CA5-42B4-BAEB-A551138FE30E}" presName="thickLine" presStyleLbl="alignNode1" presStyleIdx="6" presStyleCnt="9"/>
      <dgm:spPr/>
    </dgm:pt>
    <dgm:pt modelId="{53EBFB60-3822-4774-ACF4-656D0129B0AC}" type="pres">
      <dgm:prSet presAssocID="{C4E1949C-5CA5-42B4-BAEB-A551138FE30E}" presName="horz1" presStyleCnt="0"/>
      <dgm:spPr/>
    </dgm:pt>
    <dgm:pt modelId="{AE957ABB-165C-47A9-AEEB-D2ADD19EE51A}" type="pres">
      <dgm:prSet presAssocID="{C4E1949C-5CA5-42B4-BAEB-A551138FE30E}" presName="tx1" presStyleLbl="revTx" presStyleIdx="6" presStyleCnt="9"/>
      <dgm:spPr/>
    </dgm:pt>
    <dgm:pt modelId="{C02D8A14-EE3E-4E61-BC9C-E1CECE4C9553}" type="pres">
      <dgm:prSet presAssocID="{C4E1949C-5CA5-42B4-BAEB-A551138FE30E}" presName="vert1" presStyleCnt="0"/>
      <dgm:spPr/>
    </dgm:pt>
    <dgm:pt modelId="{44E4A8D6-66F9-4074-B2C7-60F2C4155129}" type="pres">
      <dgm:prSet presAssocID="{70170A3A-CDF5-45DE-93AC-3F3DFCAB283B}" presName="thickLine" presStyleLbl="alignNode1" presStyleIdx="7" presStyleCnt="9"/>
      <dgm:spPr/>
    </dgm:pt>
    <dgm:pt modelId="{3B4EAC0E-4A73-43AA-8E9A-2DC18CED803D}" type="pres">
      <dgm:prSet presAssocID="{70170A3A-CDF5-45DE-93AC-3F3DFCAB283B}" presName="horz1" presStyleCnt="0"/>
      <dgm:spPr/>
    </dgm:pt>
    <dgm:pt modelId="{1EA84C06-AC71-4519-BE0B-F8B1BFA16848}" type="pres">
      <dgm:prSet presAssocID="{70170A3A-CDF5-45DE-93AC-3F3DFCAB283B}" presName="tx1" presStyleLbl="revTx" presStyleIdx="7" presStyleCnt="9"/>
      <dgm:spPr/>
    </dgm:pt>
    <dgm:pt modelId="{AF0AEBEC-BBD9-47CF-A0CC-478A431F9963}" type="pres">
      <dgm:prSet presAssocID="{70170A3A-CDF5-45DE-93AC-3F3DFCAB283B}" presName="vert1" presStyleCnt="0"/>
      <dgm:spPr/>
    </dgm:pt>
    <dgm:pt modelId="{C5788F2E-3398-4B91-BDCB-B27A6542F17B}" type="pres">
      <dgm:prSet presAssocID="{9E8AA518-0E2F-4F48-98A2-8A11D86123F1}" presName="thickLine" presStyleLbl="alignNode1" presStyleIdx="8" presStyleCnt="9"/>
      <dgm:spPr/>
    </dgm:pt>
    <dgm:pt modelId="{D4D91BA2-D0EA-48ED-AB75-30A49150BC6B}" type="pres">
      <dgm:prSet presAssocID="{9E8AA518-0E2F-4F48-98A2-8A11D86123F1}" presName="horz1" presStyleCnt="0"/>
      <dgm:spPr/>
    </dgm:pt>
    <dgm:pt modelId="{192EA0E3-B968-49CC-BB41-DA974A3B4B7F}" type="pres">
      <dgm:prSet presAssocID="{9E8AA518-0E2F-4F48-98A2-8A11D86123F1}" presName="tx1" presStyleLbl="revTx" presStyleIdx="8" presStyleCnt="9"/>
      <dgm:spPr/>
    </dgm:pt>
    <dgm:pt modelId="{EB1A56D0-8792-4CCB-98EA-07BEE477E260}" type="pres">
      <dgm:prSet presAssocID="{9E8AA518-0E2F-4F48-98A2-8A11D86123F1}" presName="vert1" presStyleCnt="0"/>
      <dgm:spPr/>
    </dgm:pt>
  </dgm:ptLst>
  <dgm:cxnLst>
    <dgm:cxn modelId="{7932F40F-1CDE-4E8B-A861-0DB65497C412}" srcId="{09CCEF75-13BF-48A3-893A-6FD825843896}" destId="{ABD11024-E7E2-49A6-925D-CD5CB369BC53}" srcOrd="3" destOrd="0" parTransId="{76323B04-0827-4E4E-93D4-9F5A53542452}" sibTransId="{C983F4CA-E09F-4D42-A4A8-D7012ABD0B83}"/>
    <dgm:cxn modelId="{31471B14-6E89-498E-9D9C-4CFE1EF7E4AA}" type="presOf" srcId="{ABD11024-E7E2-49A6-925D-CD5CB369BC53}" destId="{14E09F93-2445-4022-AD73-9303C463601A}" srcOrd="0" destOrd="0" presId="urn:microsoft.com/office/officeart/2008/layout/LinedList"/>
    <dgm:cxn modelId="{535F161A-237C-4AF4-AE2D-46B293EAD912}" srcId="{09CCEF75-13BF-48A3-893A-6FD825843896}" destId="{C4E1949C-5CA5-42B4-BAEB-A551138FE30E}" srcOrd="6" destOrd="0" parTransId="{683789A4-A901-4525-89E9-949AC5728819}" sibTransId="{61FC57C9-110A-423A-9F25-CA1D6BAE5960}"/>
    <dgm:cxn modelId="{11675D3F-B0B6-42ED-90A0-E73B085E321B}" srcId="{09CCEF75-13BF-48A3-893A-6FD825843896}" destId="{9E8AA518-0E2F-4F48-98A2-8A11D86123F1}" srcOrd="8" destOrd="0" parTransId="{510D95CE-3142-48E5-91C9-946453BC6527}" sibTransId="{775316CE-BE63-42E7-B764-333EDD4BC117}"/>
    <dgm:cxn modelId="{B29C0465-BE63-4C06-8B78-819D5D2924E9}" type="presOf" srcId="{794354CC-118F-481E-8350-25E888D8E457}" destId="{2E37BEDD-467B-4C40-8B46-81D382E5F70B}" srcOrd="0" destOrd="0" presId="urn:microsoft.com/office/officeart/2008/layout/LinedList"/>
    <dgm:cxn modelId="{F38D0149-1D27-40C8-9CA4-110F4BA2746F}" srcId="{09CCEF75-13BF-48A3-893A-6FD825843896}" destId="{F23BB54C-C42B-4F52-9C63-F00CA8048CD5}" srcOrd="4" destOrd="0" parTransId="{8E132C75-0DB8-412E-93C2-2E0CB3002361}" sibTransId="{20040A20-4D6D-403F-A4B5-9151A55365F2}"/>
    <dgm:cxn modelId="{71CFAB4C-EABF-4117-ABF7-6FD905A5A257}" srcId="{09CCEF75-13BF-48A3-893A-6FD825843896}" destId="{794354CC-118F-481E-8350-25E888D8E457}" srcOrd="1" destOrd="0" parTransId="{DF2D1C83-8FFB-442D-B8F0-4F6FAA6E2E7E}" sibTransId="{B921374F-CEA9-4FE3-A989-9303BFE49177}"/>
    <dgm:cxn modelId="{5631774D-5B86-417A-8AFB-C4CC56C3FD65}" type="presOf" srcId="{4D4CA3BF-A5BA-4D8A-BC20-F7008C4448FC}" destId="{9F223E0A-6D47-4A07-9EB0-B2814B21A75F}" srcOrd="0" destOrd="0" presId="urn:microsoft.com/office/officeart/2008/layout/LinedList"/>
    <dgm:cxn modelId="{A193CA6D-4BEE-487A-AF18-7C344577C496}" srcId="{09CCEF75-13BF-48A3-893A-6FD825843896}" destId="{6803683C-D794-41A7-9298-6CFCC2EA8008}" srcOrd="0" destOrd="0" parTransId="{3BF0100D-519C-4224-9BA4-7FCA6422F469}" sibTransId="{F6DDB460-F1B6-40F8-9517-86B6B2E1932D}"/>
    <dgm:cxn modelId="{46A8FF4E-7EE7-44FC-9629-E5D7E083FEC6}" type="presOf" srcId="{6803683C-D794-41A7-9298-6CFCC2EA8008}" destId="{10A942EA-54F7-48F2-A68A-6080F040024B}" srcOrd="0" destOrd="0" presId="urn:microsoft.com/office/officeart/2008/layout/LinedList"/>
    <dgm:cxn modelId="{EAA2BE6F-3468-436F-AE4E-11843F375722}" type="presOf" srcId="{C4E1949C-5CA5-42B4-BAEB-A551138FE30E}" destId="{AE957ABB-165C-47A9-AEEB-D2ADD19EE51A}" srcOrd="0" destOrd="0" presId="urn:microsoft.com/office/officeart/2008/layout/LinedList"/>
    <dgm:cxn modelId="{076E4E74-BD27-44E6-84E0-F20284D5AACF}" type="presOf" srcId="{09CCEF75-13BF-48A3-893A-6FD825843896}" destId="{8F603DD1-CB43-4472-B958-572EC40509D0}" srcOrd="0" destOrd="0" presId="urn:microsoft.com/office/officeart/2008/layout/LinedList"/>
    <dgm:cxn modelId="{A03B7F7F-4731-4D2F-BB16-7B20776391BB}" srcId="{09CCEF75-13BF-48A3-893A-6FD825843896}" destId="{4D4CA3BF-A5BA-4D8A-BC20-F7008C4448FC}" srcOrd="5" destOrd="0" parTransId="{B7DEDD4F-27EC-410D-BCCA-AEDDD4007011}" sibTransId="{4DBD648A-B5A2-464F-B28C-0381FBE13057}"/>
    <dgm:cxn modelId="{DE310FA1-20AA-4199-911F-26960ADCAF54}" type="presOf" srcId="{F23BB54C-C42B-4F52-9C63-F00CA8048CD5}" destId="{BBEB4CA4-4820-4473-BFAB-5ADA1F595475}" srcOrd="0" destOrd="0" presId="urn:microsoft.com/office/officeart/2008/layout/LinedList"/>
    <dgm:cxn modelId="{BD229CB4-AB35-4C06-A4A9-03BE87EC0843}" type="presOf" srcId="{9E8AA518-0E2F-4F48-98A2-8A11D86123F1}" destId="{192EA0E3-B968-49CC-BB41-DA974A3B4B7F}" srcOrd="0" destOrd="0" presId="urn:microsoft.com/office/officeart/2008/layout/LinedList"/>
    <dgm:cxn modelId="{1D3A38BD-3041-463E-9CC1-4D11EF704E70}" type="presOf" srcId="{856D58DE-A6AB-4721-8C03-3855EC4D7CCB}" destId="{B483BD25-15D8-4A5C-944B-AF7F845D86F3}" srcOrd="0" destOrd="0" presId="urn:microsoft.com/office/officeart/2008/layout/LinedList"/>
    <dgm:cxn modelId="{B070B7E1-DDDF-4772-B24A-85A64FA7FCB3}" type="presOf" srcId="{70170A3A-CDF5-45DE-93AC-3F3DFCAB283B}" destId="{1EA84C06-AC71-4519-BE0B-F8B1BFA16848}" srcOrd="0" destOrd="0" presId="urn:microsoft.com/office/officeart/2008/layout/LinedList"/>
    <dgm:cxn modelId="{038130EA-69B6-4D60-88CD-ACE6C0FBC2F8}" srcId="{09CCEF75-13BF-48A3-893A-6FD825843896}" destId="{856D58DE-A6AB-4721-8C03-3855EC4D7CCB}" srcOrd="2" destOrd="0" parTransId="{30891921-1436-4A0C-88F3-02809355DF7B}" sibTransId="{2E5A53BE-F9E6-4E6F-948C-F94FFE6D3611}"/>
    <dgm:cxn modelId="{6BD1E1FA-3092-42B2-8ACD-4FDB5F210C44}" srcId="{09CCEF75-13BF-48A3-893A-6FD825843896}" destId="{70170A3A-CDF5-45DE-93AC-3F3DFCAB283B}" srcOrd="7" destOrd="0" parTransId="{31CCEDF7-72CC-4B7F-BD5B-D03A31EB2677}" sibTransId="{DD5E67A1-5F37-44AD-9AC7-62D394498DBC}"/>
    <dgm:cxn modelId="{46BAC08D-F138-4B0E-B86A-7231CC9CD23F}" type="presParOf" srcId="{8F603DD1-CB43-4472-B958-572EC40509D0}" destId="{7AC43FE8-90D0-4792-9D63-5481ED4AA44C}" srcOrd="0" destOrd="0" presId="urn:microsoft.com/office/officeart/2008/layout/LinedList"/>
    <dgm:cxn modelId="{6512B0ED-6D27-4BD9-9371-4ED7F2D08176}" type="presParOf" srcId="{8F603DD1-CB43-4472-B958-572EC40509D0}" destId="{7CF7564C-F859-4A80-A326-92B79D5C10D2}" srcOrd="1" destOrd="0" presId="urn:microsoft.com/office/officeart/2008/layout/LinedList"/>
    <dgm:cxn modelId="{1091BBB3-8AF3-4BB4-9AF9-AEA6E134EAB9}" type="presParOf" srcId="{7CF7564C-F859-4A80-A326-92B79D5C10D2}" destId="{10A942EA-54F7-48F2-A68A-6080F040024B}" srcOrd="0" destOrd="0" presId="urn:microsoft.com/office/officeart/2008/layout/LinedList"/>
    <dgm:cxn modelId="{2B21841C-0DCD-4A76-9735-D1CD0DE23DC8}" type="presParOf" srcId="{7CF7564C-F859-4A80-A326-92B79D5C10D2}" destId="{C8464374-13E3-46C8-B57C-FA7FC2364BA7}" srcOrd="1" destOrd="0" presId="urn:microsoft.com/office/officeart/2008/layout/LinedList"/>
    <dgm:cxn modelId="{5A735C0B-053B-4FAA-9571-C1293DA156C4}" type="presParOf" srcId="{8F603DD1-CB43-4472-B958-572EC40509D0}" destId="{C0E2A3F9-6382-415C-93CF-8917F80A7F7C}" srcOrd="2" destOrd="0" presId="urn:microsoft.com/office/officeart/2008/layout/LinedList"/>
    <dgm:cxn modelId="{942653CD-5094-4B3B-99C8-5E54296CE3B9}" type="presParOf" srcId="{8F603DD1-CB43-4472-B958-572EC40509D0}" destId="{0B03E9BA-860A-43CA-B89A-7B41AEEEAA6C}" srcOrd="3" destOrd="0" presId="urn:microsoft.com/office/officeart/2008/layout/LinedList"/>
    <dgm:cxn modelId="{80879A24-A594-4D18-B518-BE381FAF9507}" type="presParOf" srcId="{0B03E9BA-860A-43CA-B89A-7B41AEEEAA6C}" destId="{2E37BEDD-467B-4C40-8B46-81D382E5F70B}" srcOrd="0" destOrd="0" presId="urn:microsoft.com/office/officeart/2008/layout/LinedList"/>
    <dgm:cxn modelId="{D4EAE07D-1BF7-45AE-A3C4-CCB41A48E6AB}" type="presParOf" srcId="{0B03E9BA-860A-43CA-B89A-7B41AEEEAA6C}" destId="{285D94D2-42C5-4845-9D1D-CBBD4E190FAE}" srcOrd="1" destOrd="0" presId="urn:microsoft.com/office/officeart/2008/layout/LinedList"/>
    <dgm:cxn modelId="{0BDE447D-7AE0-4EC6-A54F-34F18B231659}" type="presParOf" srcId="{8F603DD1-CB43-4472-B958-572EC40509D0}" destId="{D284DA40-71D9-489F-965E-8D858D7BFB9D}" srcOrd="4" destOrd="0" presId="urn:microsoft.com/office/officeart/2008/layout/LinedList"/>
    <dgm:cxn modelId="{0B2BC214-FCDA-4907-8E42-564DC841394E}" type="presParOf" srcId="{8F603DD1-CB43-4472-B958-572EC40509D0}" destId="{867AD10B-A663-4E70-AA7D-D8440C4B3C31}" srcOrd="5" destOrd="0" presId="urn:microsoft.com/office/officeart/2008/layout/LinedList"/>
    <dgm:cxn modelId="{DAB69726-F473-4708-A57C-EF8CEC59FD6E}" type="presParOf" srcId="{867AD10B-A663-4E70-AA7D-D8440C4B3C31}" destId="{B483BD25-15D8-4A5C-944B-AF7F845D86F3}" srcOrd="0" destOrd="0" presId="urn:microsoft.com/office/officeart/2008/layout/LinedList"/>
    <dgm:cxn modelId="{BDBF6763-9E2B-43D0-A984-BB144AE7655D}" type="presParOf" srcId="{867AD10B-A663-4E70-AA7D-D8440C4B3C31}" destId="{DEEECCD9-924C-40A6-AECF-71653388ED34}" srcOrd="1" destOrd="0" presId="urn:microsoft.com/office/officeart/2008/layout/LinedList"/>
    <dgm:cxn modelId="{BED073C6-7F47-47A1-A82D-24F7EE86DFB2}" type="presParOf" srcId="{8F603DD1-CB43-4472-B958-572EC40509D0}" destId="{4B7A3A62-C567-4ECC-BAF1-F99911895CFD}" srcOrd="6" destOrd="0" presId="urn:microsoft.com/office/officeart/2008/layout/LinedList"/>
    <dgm:cxn modelId="{450170DB-8C4E-4DCA-B541-A6BF191D2420}" type="presParOf" srcId="{8F603DD1-CB43-4472-B958-572EC40509D0}" destId="{99FFD7EA-7357-434C-A4C5-7A38CD2DB458}" srcOrd="7" destOrd="0" presId="urn:microsoft.com/office/officeart/2008/layout/LinedList"/>
    <dgm:cxn modelId="{1FDA95F5-5C33-44A2-A0A5-500C8C92A12C}" type="presParOf" srcId="{99FFD7EA-7357-434C-A4C5-7A38CD2DB458}" destId="{14E09F93-2445-4022-AD73-9303C463601A}" srcOrd="0" destOrd="0" presId="urn:microsoft.com/office/officeart/2008/layout/LinedList"/>
    <dgm:cxn modelId="{C2A647DA-140F-4E4D-A994-84F79D19EB42}" type="presParOf" srcId="{99FFD7EA-7357-434C-A4C5-7A38CD2DB458}" destId="{864E0B79-0778-44BC-986B-F43FE65B5E1A}" srcOrd="1" destOrd="0" presId="urn:microsoft.com/office/officeart/2008/layout/LinedList"/>
    <dgm:cxn modelId="{ED9DBF61-6DD1-4EA5-94B7-7FCDFFE69375}" type="presParOf" srcId="{8F603DD1-CB43-4472-B958-572EC40509D0}" destId="{0C26CAB0-84E7-47BA-8E9F-1101F0616B71}" srcOrd="8" destOrd="0" presId="urn:microsoft.com/office/officeart/2008/layout/LinedList"/>
    <dgm:cxn modelId="{C3532D91-A453-4FE5-A2C1-E0BE8702008D}" type="presParOf" srcId="{8F603DD1-CB43-4472-B958-572EC40509D0}" destId="{56FC0E0E-6D20-4B83-BFF3-061C7710E1F7}" srcOrd="9" destOrd="0" presId="urn:microsoft.com/office/officeart/2008/layout/LinedList"/>
    <dgm:cxn modelId="{C4C01216-18A4-430B-AB2F-EC78992E08A3}" type="presParOf" srcId="{56FC0E0E-6D20-4B83-BFF3-061C7710E1F7}" destId="{BBEB4CA4-4820-4473-BFAB-5ADA1F595475}" srcOrd="0" destOrd="0" presId="urn:microsoft.com/office/officeart/2008/layout/LinedList"/>
    <dgm:cxn modelId="{1C19FED9-7CFF-4F5C-A8E9-5CD5628AF358}" type="presParOf" srcId="{56FC0E0E-6D20-4B83-BFF3-061C7710E1F7}" destId="{1DB61713-1226-477E-98E6-148EE56C1AAF}" srcOrd="1" destOrd="0" presId="urn:microsoft.com/office/officeart/2008/layout/LinedList"/>
    <dgm:cxn modelId="{E86CC42E-6A59-44F9-A227-DB864BFBAB43}" type="presParOf" srcId="{8F603DD1-CB43-4472-B958-572EC40509D0}" destId="{9C332E3B-7F34-4196-B29A-DF5A6EBB94F7}" srcOrd="10" destOrd="0" presId="urn:microsoft.com/office/officeart/2008/layout/LinedList"/>
    <dgm:cxn modelId="{52C52521-8A9C-4192-BC0C-95BCAF2FFE3D}" type="presParOf" srcId="{8F603DD1-CB43-4472-B958-572EC40509D0}" destId="{481664B2-05B1-4304-B9B2-3404383584ED}" srcOrd="11" destOrd="0" presId="urn:microsoft.com/office/officeart/2008/layout/LinedList"/>
    <dgm:cxn modelId="{5C50A1F7-5EFD-4769-82B1-498E090C2AD4}" type="presParOf" srcId="{481664B2-05B1-4304-B9B2-3404383584ED}" destId="{9F223E0A-6D47-4A07-9EB0-B2814B21A75F}" srcOrd="0" destOrd="0" presId="urn:microsoft.com/office/officeart/2008/layout/LinedList"/>
    <dgm:cxn modelId="{91B7D3CE-A72B-43EA-A4B7-EF92BE1234F7}" type="presParOf" srcId="{481664B2-05B1-4304-B9B2-3404383584ED}" destId="{530E4393-EADC-498D-A82C-1AE1E86A5A66}" srcOrd="1" destOrd="0" presId="urn:microsoft.com/office/officeart/2008/layout/LinedList"/>
    <dgm:cxn modelId="{EAFB6C8B-824A-4391-B825-A9EF6D410FC2}" type="presParOf" srcId="{8F603DD1-CB43-4472-B958-572EC40509D0}" destId="{BA760A8F-12C6-4CB9-BE31-EF118C7D459A}" srcOrd="12" destOrd="0" presId="urn:microsoft.com/office/officeart/2008/layout/LinedList"/>
    <dgm:cxn modelId="{6028B6C7-AC7B-44EB-A8CB-E0466C90B28E}" type="presParOf" srcId="{8F603DD1-CB43-4472-B958-572EC40509D0}" destId="{53EBFB60-3822-4774-ACF4-656D0129B0AC}" srcOrd="13" destOrd="0" presId="urn:microsoft.com/office/officeart/2008/layout/LinedList"/>
    <dgm:cxn modelId="{868D75E3-64DC-4F35-968C-D7BBF07306CC}" type="presParOf" srcId="{53EBFB60-3822-4774-ACF4-656D0129B0AC}" destId="{AE957ABB-165C-47A9-AEEB-D2ADD19EE51A}" srcOrd="0" destOrd="0" presId="urn:microsoft.com/office/officeart/2008/layout/LinedList"/>
    <dgm:cxn modelId="{813BE077-7AB6-4B00-AB86-1C205E28EB43}" type="presParOf" srcId="{53EBFB60-3822-4774-ACF4-656D0129B0AC}" destId="{C02D8A14-EE3E-4E61-BC9C-E1CECE4C9553}" srcOrd="1" destOrd="0" presId="urn:microsoft.com/office/officeart/2008/layout/LinedList"/>
    <dgm:cxn modelId="{6C865058-3B33-4BA8-B858-D01B5ECCD5FC}" type="presParOf" srcId="{8F603DD1-CB43-4472-B958-572EC40509D0}" destId="{44E4A8D6-66F9-4074-B2C7-60F2C4155129}" srcOrd="14" destOrd="0" presId="urn:microsoft.com/office/officeart/2008/layout/LinedList"/>
    <dgm:cxn modelId="{7A4F2F87-11DD-4F41-89C4-F5A84E6613E2}" type="presParOf" srcId="{8F603DD1-CB43-4472-B958-572EC40509D0}" destId="{3B4EAC0E-4A73-43AA-8E9A-2DC18CED803D}" srcOrd="15" destOrd="0" presId="urn:microsoft.com/office/officeart/2008/layout/LinedList"/>
    <dgm:cxn modelId="{FD946500-AB3C-4897-AF47-CA725D3B3C16}" type="presParOf" srcId="{3B4EAC0E-4A73-43AA-8E9A-2DC18CED803D}" destId="{1EA84C06-AC71-4519-BE0B-F8B1BFA16848}" srcOrd="0" destOrd="0" presId="urn:microsoft.com/office/officeart/2008/layout/LinedList"/>
    <dgm:cxn modelId="{B23CE3D1-EC69-4444-8BB9-F87A6291FA28}" type="presParOf" srcId="{3B4EAC0E-4A73-43AA-8E9A-2DC18CED803D}" destId="{AF0AEBEC-BBD9-47CF-A0CC-478A431F9963}" srcOrd="1" destOrd="0" presId="urn:microsoft.com/office/officeart/2008/layout/LinedList"/>
    <dgm:cxn modelId="{BD667374-ECC3-44FD-835A-C4FB735144AE}" type="presParOf" srcId="{8F603DD1-CB43-4472-B958-572EC40509D0}" destId="{C5788F2E-3398-4B91-BDCB-B27A6542F17B}" srcOrd="16" destOrd="0" presId="urn:microsoft.com/office/officeart/2008/layout/LinedList"/>
    <dgm:cxn modelId="{01C0EEB0-2DC9-4065-A3E9-F8E40DCCBCEB}" type="presParOf" srcId="{8F603DD1-CB43-4472-B958-572EC40509D0}" destId="{D4D91BA2-D0EA-48ED-AB75-30A49150BC6B}" srcOrd="17" destOrd="0" presId="urn:microsoft.com/office/officeart/2008/layout/LinedList"/>
    <dgm:cxn modelId="{206C6084-C515-4D31-8A0B-EEE781434E0E}" type="presParOf" srcId="{D4D91BA2-D0EA-48ED-AB75-30A49150BC6B}" destId="{192EA0E3-B968-49CC-BB41-DA974A3B4B7F}" srcOrd="0" destOrd="0" presId="urn:microsoft.com/office/officeart/2008/layout/LinedList"/>
    <dgm:cxn modelId="{F4074DFD-9E6B-49C2-AF7F-A74E731C016B}" type="presParOf" srcId="{D4D91BA2-D0EA-48ED-AB75-30A49150BC6B}" destId="{EB1A56D0-8792-4CCB-98EA-07BEE477E26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C43FE8-90D0-4792-9D63-5481ED4AA44C}">
      <dsp:nvSpPr>
        <dsp:cNvPr id="0" name=""/>
        <dsp:cNvSpPr/>
      </dsp:nvSpPr>
      <dsp:spPr>
        <a:xfrm>
          <a:off x="0" y="531"/>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A942EA-54F7-48F2-A68A-6080F040024B}">
      <dsp:nvSpPr>
        <dsp:cNvPr id="0" name=""/>
        <dsp:cNvSpPr/>
      </dsp:nvSpPr>
      <dsp:spPr>
        <a:xfrm>
          <a:off x="0" y="531"/>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Deliverables:</a:t>
          </a:r>
        </a:p>
      </dsp:txBody>
      <dsp:txXfrm>
        <a:off x="0" y="531"/>
        <a:ext cx="10515600" cy="483363"/>
      </dsp:txXfrm>
    </dsp:sp>
    <dsp:sp modelId="{C0E2A3F9-6382-415C-93CF-8917F80A7F7C}">
      <dsp:nvSpPr>
        <dsp:cNvPr id="0" name=""/>
        <dsp:cNvSpPr/>
      </dsp:nvSpPr>
      <dsp:spPr>
        <a:xfrm>
          <a:off x="0" y="483895"/>
          <a:ext cx="10515600" cy="0"/>
        </a:xfrm>
        <a:prstGeom prst="line">
          <a:avLst/>
        </a:prstGeom>
        <a:solidFill>
          <a:schemeClr val="accent2">
            <a:hueOff val="805452"/>
            <a:satOff val="-2312"/>
            <a:lumOff val="-3701"/>
            <a:alphaOff val="0"/>
          </a:schemeClr>
        </a:solidFill>
        <a:ln w="19050" cap="flat" cmpd="sng" algn="ctr">
          <a:solidFill>
            <a:schemeClr val="accent2">
              <a:hueOff val="805452"/>
              <a:satOff val="-2312"/>
              <a:lumOff val="-37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37BEDD-467B-4C40-8B46-81D382E5F70B}">
      <dsp:nvSpPr>
        <dsp:cNvPr id="0" name=""/>
        <dsp:cNvSpPr/>
      </dsp:nvSpPr>
      <dsp:spPr>
        <a:xfrm>
          <a:off x="0" y="483895"/>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Project Plan: Detailed documentation of the project’s scope, timeline, cost estimate, risk management plan, etc.</a:t>
          </a:r>
        </a:p>
      </dsp:txBody>
      <dsp:txXfrm>
        <a:off x="0" y="483895"/>
        <a:ext cx="10515600" cy="483363"/>
      </dsp:txXfrm>
    </dsp:sp>
    <dsp:sp modelId="{D284DA40-71D9-489F-965E-8D858D7BFB9D}">
      <dsp:nvSpPr>
        <dsp:cNvPr id="0" name=""/>
        <dsp:cNvSpPr/>
      </dsp:nvSpPr>
      <dsp:spPr>
        <a:xfrm>
          <a:off x="0" y="967259"/>
          <a:ext cx="10515600"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83BD25-15D8-4A5C-944B-AF7F845D86F3}">
      <dsp:nvSpPr>
        <dsp:cNvPr id="0" name=""/>
        <dsp:cNvSpPr/>
      </dsp:nvSpPr>
      <dsp:spPr>
        <a:xfrm>
          <a:off x="0" y="967259"/>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App Design: Completed app interface design and user experience mockups.</a:t>
          </a:r>
        </a:p>
      </dsp:txBody>
      <dsp:txXfrm>
        <a:off x="0" y="967259"/>
        <a:ext cx="10515600" cy="483363"/>
      </dsp:txXfrm>
    </dsp:sp>
    <dsp:sp modelId="{4B7A3A62-C567-4ECC-BAF1-F99911895CFD}">
      <dsp:nvSpPr>
        <dsp:cNvPr id="0" name=""/>
        <dsp:cNvSpPr/>
      </dsp:nvSpPr>
      <dsp:spPr>
        <a:xfrm>
          <a:off x="0" y="1450623"/>
          <a:ext cx="10515600" cy="0"/>
        </a:xfrm>
        <a:prstGeom prst="line">
          <a:avLst/>
        </a:prstGeom>
        <a:solidFill>
          <a:schemeClr val="accent2">
            <a:hueOff val="2416355"/>
            <a:satOff val="-6935"/>
            <a:lumOff val="-11103"/>
            <a:alphaOff val="0"/>
          </a:schemeClr>
        </a:solidFill>
        <a:ln w="19050" cap="flat" cmpd="sng" algn="ctr">
          <a:solidFill>
            <a:schemeClr val="accent2">
              <a:hueOff val="2416355"/>
              <a:satOff val="-6935"/>
              <a:lumOff val="-111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E09F93-2445-4022-AD73-9303C463601A}">
      <dsp:nvSpPr>
        <dsp:cNvPr id="0" name=""/>
        <dsp:cNvSpPr/>
      </dsp:nvSpPr>
      <dsp:spPr>
        <a:xfrm>
          <a:off x="0" y="1450623"/>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Prototype: A working prototype of the app for initial testing.</a:t>
          </a:r>
        </a:p>
      </dsp:txBody>
      <dsp:txXfrm>
        <a:off x="0" y="1450623"/>
        <a:ext cx="10515600" cy="483363"/>
      </dsp:txXfrm>
    </dsp:sp>
    <dsp:sp modelId="{0C26CAB0-84E7-47BA-8E9F-1101F0616B71}">
      <dsp:nvSpPr>
        <dsp:cNvPr id="0" name=""/>
        <dsp:cNvSpPr/>
      </dsp:nvSpPr>
      <dsp:spPr>
        <a:xfrm>
          <a:off x="0" y="1933987"/>
          <a:ext cx="10515600"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B4CA4-4820-4473-BFAB-5ADA1F595475}">
      <dsp:nvSpPr>
        <dsp:cNvPr id="0" name=""/>
        <dsp:cNvSpPr/>
      </dsp:nvSpPr>
      <dsp:spPr>
        <a:xfrm>
          <a:off x="0" y="1933987"/>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App Testing: Completed functional, user acceptance, and security testing.</a:t>
          </a:r>
        </a:p>
      </dsp:txBody>
      <dsp:txXfrm>
        <a:off x="0" y="1933987"/>
        <a:ext cx="10515600" cy="483363"/>
      </dsp:txXfrm>
    </dsp:sp>
    <dsp:sp modelId="{9C332E3B-7F34-4196-B29A-DF5A6EBB94F7}">
      <dsp:nvSpPr>
        <dsp:cNvPr id="0" name=""/>
        <dsp:cNvSpPr/>
      </dsp:nvSpPr>
      <dsp:spPr>
        <a:xfrm>
          <a:off x="0" y="2417350"/>
          <a:ext cx="10515600" cy="0"/>
        </a:xfrm>
        <a:prstGeom prst="line">
          <a:avLst/>
        </a:prstGeom>
        <a:solidFill>
          <a:schemeClr val="accent2">
            <a:hueOff val="4027259"/>
            <a:satOff val="-11558"/>
            <a:lumOff val="-18506"/>
            <a:alphaOff val="0"/>
          </a:schemeClr>
        </a:solidFill>
        <a:ln w="19050" cap="flat" cmpd="sng" algn="ctr">
          <a:solidFill>
            <a:schemeClr val="accent2">
              <a:hueOff val="4027259"/>
              <a:satOff val="-11558"/>
              <a:lumOff val="-185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223E0A-6D47-4A07-9EB0-B2814B21A75F}">
      <dsp:nvSpPr>
        <dsp:cNvPr id="0" name=""/>
        <dsp:cNvSpPr/>
      </dsp:nvSpPr>
      <dsp:spPr>
        <a:xfrm>
          <a:off x="0" y="2417350"/>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Launch Rollout: A successful initial rollout to a limited number of users for live testing.</a:t>
          </a:r>
        </a:p>
      </dsp:txBody>
      <dsp:txXfrm>
        <a:off x="0" y="2417350"/>
        <a:ext cx="10515600" cy="483363"/>
      </dsp:txXfrm>
    </dsp:sp>
    <dsp:sp modelId="{BA760A8F-12C6-4CB9-BE31-EF118C7D459A}">
      <dsp:nvSpPr>
        <dsp:cNvPr id="0" name=""/>
        <dsp:cNvSpPr/>
      </dsp:nvSpPr>
      <dsp:spPr>
        <a:xfrm>
          <a:off x="0" y="2900714"/>
          <a:ext cx="10515600"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7ABB-165C-47A9-AEEB-D2ADD19EE51A}">
      <dsp:nvSpPr>
        <dsp:cNvPr id="0" name=""/>
        <dsp:cNvSpPr/>
      </dsp:nvSpPr>
      <dsp:spPr>
        <a:xfrm>
          <a:off x="0" y="2900714"/>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Final App Version: The fully developed and operational mobile application.</a:t>
          </a:r>
        </a:p>
      </dsp:txBody>
      <dsp:txXfrm>
        <a:off x="0" y="2900714"/>
        <a:ext cx="10515600" cy="483363"/>
      </dsp:txXfrm>
    </dsp:sp>
    <dsp:sp modelId="{44E4A8D6-66F9-4074-B2C7-60F2C4155129}">
      <dsp:nvSpPr>
        <dsp:cNvPr id="0" name=""/>
        <dsp:cNvSpPr/>
      </dsp:nvSpPr>
      <dsp:spPr>
        <a:xfrm>
          <a:off x="0" y="3384078"/>
          <a:ext cx="10515600" cy="0"/>
        </a:xfrm>
        <a:prstGeom prst="line">
          <a:avLst/>
        </a:prstGeom>
        <a:solidFill>
          <a:schemeClr val="accent2">
            <a:hueOff val="5638162"/>
            <a:satOff val="-16181"/>
            <a:lumOff val="-25908"/>
            <a:alphaOff val="0"/>
          </a:schemeClr>
        </a:solidFill>
        <a:ln w="19050" cap="flat" cmpd="sng" algn="ctr">
          <a:solidFill>
            <a:schemeClr val="accent2">
              <a:hueOff val="5638162"/>
              <a:satOff val="-16181"/>
              <a:lumOff val="-259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A84C06-AC71-4519-BE0B-F8B1BFA16848}">
      <dsp:nvSpPr>
        <dsp:cNvPr id="0" name=""/>
        <dsp:cNvSpPr/>
      </dsp:nvSpPr>
      <dsp:spPr>
        <a:xfrm>
          <a:off x="0" y="3384078"/>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User Guide: A comprehensive guide on how to use the Pulse App.</a:t>
          </a:r>
        </a:p>
      </dsp:txBody>
      <dsp:txXfrm>
        <a:off x="0" y="3384078"/>
        <a:ext cx="10515600" cy="483363"/>
      </dsp:txXfrm>
    </dsp:sp>
    <dsp:sp modelId="{C5788F2E-3398-4B91-BDCB-B27A6542F17B}">
      <dsp:nvSpPr>
        <dsp:cNvPr id="0" name=""/>
        <dsp:cNvSpPr/>
      </dsp:nvSpPr>
      <dsp:spPr>
        <a:xfrm>
          <a:off x="0" y="3867442"/>
          <a:ext cx="1051560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2EA0E3-B968-49CC-BB41-DA974A3B4B7F}">
      <dsp:nvSpPr>
        <dsp:cNvPr id="0" name=""/>
        <dsp:cNvSpPr/>
      </dsp:nvSpPr>
      <dsp:spPr>
        <a:xfrm>
          <a:off x="0" y="3867442"/>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Post-launch Support: Technical support to handle user feedback and any bugs that may arise after launch.</a:t>
          </a:r>
        </a:p>
      </dsp:txBody>
      <dsp:txXfrm>
        <a:off x="0" y="3867442"/>
        <a:ext cx="10515600" cy="48336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3D20-0C38-50CB-BFB1-C1C84F5E47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6D4359-A33A-641B-8031-B4502C2CCF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6E08AD-31F8-0AB3-AF99-624F70C582EE}"/>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5" name="Footer Placeholder 4">
            <a:extLst>
              <a:ext uri="{FF2B5EF4-FFF2-40B4-BE49-F238E27FC236}">
                <a16:creationId xmlns:a16="http://schemas.microsoft.com/office/drawing/2014/main" id="{B767435E-886F-F248-A9C2-9CBBE451B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96B43-66BA-511D-248C-E307D88914D4}"/>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1542276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9A84-AA3F-9802-8B65-84DDF06AA6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8CF1E1-0230-5F8B-9573-376E182DF5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98603-A76E-5E5A-D163-40F3DCAEE1BD}"/>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5" name="Footer Placeholder 4">
            <a:extLst>
              <a:ext uri="{FF2B5EF4-FFF2-40B4-BE49-F238E27FC236}">
                <a16:creationId xmlns:a16="http://schemas.microsoft.com/office/drawing/2014/main" id="{1490928D-D399-D9B3-B1DF-92C791B5A5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1AD55-9476-0814-D187-89A275FA68AB}"/>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2402480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0E05B-B6F8-E831-A10D-BEA3A7EEC2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3546EC-A876-4F1B-4FBD-A67510B89C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7E9EF3-D507-11BA-8A21-72BD8D7D9782}"/>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5" name="Footer Placeholder 4">
            <a:extLst>
              <a:ext uri="{FF2B5EF4-FFF2-40B4-BE49-F238E27FC236}">
                <a16:creationId xmlns:a16="http://schemas.microsoft.com/office/drawing/2014/main" id="{25CEB790-2AF3-A3AA-FFF6-558C55D10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BB3A3-1D25-F785-5A16-3DD44FAC84C6}"/>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983472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F0DAF-A94A-2127-61CA-AD9F220416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311C72-6600-ACE1-5594-9B935FB72D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BA0340-C401-C81C-8300-636F792B33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968444-51B9-BDE5-AA5F-3F9C24F14F0F}"/>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6" name="Footer Placeholder 5">
            <a:extLst>
              <a:ext uri="{FF2B5EF4-FFF2-40B4-BE49-F238E27FC236}">
                <a16:creationId xmlns:a16="http://schemas.microsoft.com/office/drawing/2014/main" id="{7F4232A2-941F-E6DF-6BF0-2900C4796A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CB6FF-E29E-5207-FC2A-AA3395990E89}"/>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2878888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A52E-A4B7-D420-2009-84847975D7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445EB7-E02A-412B-B471-94D5AB95F7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6CB64C-6E59-A3CE-AD55-1B921207A6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D4B9E4-5683-1472-93AF-00202CB941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1511D8-5A00-DEAC-550C-D2C3D8857C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D4C5BE-6D82-A5CC-DAAF-AEFDBBCBAE82}"/>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8" name="Footer Placeholder 7">
            <a:extLst>
              <a:ext uri="{FF2B5EF4-FFF2-40B4-BE49-F238E27FC236}">
                <a16:creationId xmlns:a16="http://schemas.microsoft.com/office/drawing/2014/main" id="{E37B5B5E-25CB-6919-43CF-D966FC26F7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A2633F-FC7D-FA25-DD9B-389F96044518}"/>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2701656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273D2-5960-64FB-814B-000E07DE6B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A68963-24CA-0643-FF58-BBEFADE933C3}"/>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4" name="Footer Placeholder 3">
            <a:extLst>
              <a:ext uri="{FF2B5EF4-FFF2-40B4-BE49-F238E27FC236}">
                <a16:creationId xmlns:a16="http://schemas.microsoft.com/office/drawing/2014/main" id="{AC5C1F25-3B32-D2C9-09F9-4B3584641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041B19-9C6D-5F4B-5F14-6F00B03B9E78}"/>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420718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7D85F-90AA-44D5-3AF4-3CF78E6CCAF1}"/>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3" name="Footer Placeholder 2">
            <a:extLst>
              <a:ext uri="{FF2B5EF4-FFF2-40B4-BE49-F238E27FC236}">
                <a16:creationId xmlns:a16="http://schemas.microsoft.com/office/drawing/2014/main" id="{87D3AE22-9BD6-459A-4707-520692434F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685404-9AE0-526F-8063-DC6A88AE1995}"/>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71676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EF62-C433-1C1C-0789-86926CA78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71975-5F4A-E0BD-ED0D-3BF1EDD959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A5F81F-A724-67FC-BAA4-D43BDEE7AC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DEFE6E-F5D9-64B0-49C0-6DA5FBCCCF8B}"/>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6" name="Footer Placeholder 5">
            <a:extLst>
              <a:ext uri="{FF2B5EF4-FFF2-40B4-BE49-F238E27FC236}">
                <a16:creationId xmlns:a16="http://schemas.microsoft.com/office/drawing/2014/main" id="{53633E79-7C01-311C-8A0F-EB860534A1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201E-EEE5-85D9-6F1D-B722133DD56B}"/>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2914945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16922-7768-C1A4-F4AD-49D44C0B7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B36750-E67E-BCCF-F46C-AFED2E0FAC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D7CA97-E02C-7B1F-61F7-4DB487C06C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C94FD0-2991-D3B8-2376-C6537302700F}"/>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6" name="Footer Placeholder 5">
            <a:extLst>
              <a:ext uri="{FF2B5EF4-FFF2-40B4-BE49-F238E27FC236}">
                <a16:creationId xmlns:a16="http://schemas.microsoft.com/office/drawing/2014/main" id="{9805E6A1-9A72-788A-7CA7-3E9B551C37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5C191B-9391-5C40-9F9B-BD537B9BFE1F}"/>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1341079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64C4-4D32-30B9-99F5-A6E5C13282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611B73-F354-BE22-8FD2-E6B5547F9E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DE17D-1F9F-095F-C108-538BEA2FFB62}"/>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5" name="Footer Placeholder 4">
            <a:extLst>
              <a:ext uri="{FF2B5EF4-FFF2-40B4-BE49-F238E27FC236}">
                <a16:creationId xmlns:a16="http://schemas.microsoft.com/office/drawing/2014/main" id="{4D4F6789-CEC2-9AE9-FAA1-800A5B5160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0D09F-C18F-DC43-38A9-74A47F6F88B2}"/>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357422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8DCD5C-9050-5F72-53EA-4834455E7E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359F58-91F8-BC2A-6FAF-9071434454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B60E68-9C34-8E82-2E8A-05564E1950DF}"/>
              </a:ext>
            </a:extLst>
          </p:cNvPr>
          <p:cNvSpPr>
            <a:spLocks noGrp="1"/>
          </p:cNvSpPr>
          <p:nvPr>
            <p:ph type="dt" sz="half" idx="10"/>
          </p:nvPr>
        </p:nvSpPr>
        <p:spPr/>
        <p:txBody>
          <a:bodyPr/>
          <a:lstStyle/>
          <a:p>
            <a:fld id="{C83CABDE-44B0-414A-882A-F8104179F355}" type="datetimeFigureOut">
              <a:rPr lang="en-US" smtClean="0"/>
              <a:t>12/3/2024</a:t>
            </a:fld>
            <a:endParaRPr lang="en-US"/>
          </a:p>
        </p:txBody>
      </p:sp>
      <p:sp>
        <p:nvSpPr>
          <p:cNvPr id="5" name="Footer Placeholder 4">
            <a:extLst>
              <a:ext uri="{FF2B5EF4-FFF2-40B4-BE49-F238E27FC236}">
                <a16:creationId xmlns:a16="http://schemas.microsoft.com/office/drawing/2014/main" id="{D5279D94-C3F1-36BF-7CC2-E79FB7810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4745F-8805-D614-A030-C728D3FEE65A}"/>
              </a:ext>
            </a:extLst>
          </p:cNvPr>
          <p:cNvSpPr>
            <a:spLocks noGrp="1"/>
          </p:cNvSpPr>
          <p:nvPr>
            <p:ph type="sldNum" sz="quarter" idx="12"/>
          </p:nvPr>
        </p:nvSpPr>
        <p:spPr/>
        <p:txBody>
          <a:bodyPr/>
          <a:lstStyle/>
          <a:p>
            <a:fld id="{5E7EA1E0-7D41-4EA9-87F0-D5773CC9F18A}" type="slidenum">
              <a:rPr lang="en-US" smtClean="0"/>
              <a:t>‹#›</a:t>
            </a:fld>
            <a:endParaRPr lang="en-US"/>
          </a:p>
        </p:txBody>
      </p:sp>
    </p:spTree>
    <p:extLst>
      <p:ext uri="{BB962C8B-B14F-4D97-AF65-F5344CB8AC3E}">
        <p14:creationId xmlns:p14="http://schemas.microsoft.com/office/powerpoint/2010/main" val="1231554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230163-8618-1B00-E065-DABDAB1BD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D13271-C4DE-5865-6F86-40896EB6F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B9E535-30A5-1BD8-4BD0-5A3001FB03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3CABDE-44B0-414A-882A-F8104179F355}" type="datetimeFigureOut">
              <a:rPr lang="en-US" smtClean="0"/>
              <a:t>12/3/2024</a:t>
            </a:fld>
            <a:endParaRPr lang="en-US"/>
          </a:p>
        </p:txBody>
      </p:sp>
      <p:sp>
        <p:nvSpPr>
          <p:cNvPr id="5" name="Footer Placeholder 4">
            <a:extLst>
              <a:ext uri="{FF2B5EF4-FFF2-40B4-BE49-F238E27FC236}">
                <a16:creationId xmlns:a16="http://schemas.microsoft.com/office/drawing/2014/main" id="{FA4BAB36-CFBE-3EE4-2A06-EB0FC531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A30C86-B705-42A1-9EBF-0D0D91198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7EA1E0-7D41-4EA9-87F0-D5773CC9F18A}" type="slidenum">
              <a:rPr lang="en-US" smtClean="0"/>
              <a:t>‹#›</a:t>
            </a:fld>
            <a:endParaRPr lang="en-US"/>
          </a:p>
        </p:txBody>
      </p:sp>
    </p:spTree>
    <p:extLst>
      <p:ext uri="{BB962C8B-B14F-4D97-AF65-F5344CB8AC3E}">
        <p14:creationId xmlns:p14="http://schemas.microsoft.com/office/powerpoint/2010/main" val="1653249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D5FAF5-4141-2C49-EE6B-18E73E92F25B}"/>
              </a:ext>
            </a:extLst>
          </p:cNvPr>
          <p:cNvSpPr>
            <a:spLocks noGrp="1"/>
          </p:cNvSpPr>
          <p:nvPr>
            <p:ph type="ctrTitle"/>
          </p:nvPr>
        </p:nvSpPr>
        <p:spPr>
          <a:xfrm>
            <a:off x="5297762" y="640080"/>
            <a:ext cx="6251110" cy="3566160"/>
          </a:xfrm>
        </p:spPr>
        <p:txBody>
          <a:bodyPr anchor="b">
            <a:normAutofit/>
          </a:bodyPr>
          <a:lstStyle/>
          <a:p>
            <a:pPr algn="l"/>
            <a:r>
              <a:rPr lang="en-US" sz="5400"/>
              <a:t>IT Project Management Final Project Presentation</a:t>
            </a:r>
          </a:p>
        </p:txBody>
      </p:sp>
      <p:sp>
        <p:nvSpPr>
          <p:cNvPr id="3" name="Subtitle 2">
            <a:extLst>
              <a:ext uri="{FF2B5EF4-FFF2-40B4-BE49-F238E27FC236}">
                <a16:creationId xmlns:a16="http://schemas.microsoft.com/office/drawing/2014/main" id="{21113D03-F65F-B9B9-3232-C594CC92A60D}"/>
              </a:ext>
            </a:extLst>
          </p:cNvPr>
          <p:cNvSpPr>
            <a:spLocks noGrp="1"/>
          </p:cNvSpPr>
          <p:nvPr>
            <p:ph type="subTitle" idx="1"/>
          </p:nvPr>
        </p:nvSpPr>
        <p:spPr>
          <a:xfrm>
            <a:off x="5297760" y="4636008"/>
            <a:ext cx="6251111" cy="1572768"/>
          </a:xfrm>
        </p:spPr>
        <p:txBody>
          <a:bodyPr>
            <a:normAutofit/>
          </a:bodyPr>
          <a:lstStyle/>
          <a:p>
            <a:pPr algn="l"/>
            <a:r>
              <a:rPr lang="en-US" sz="2000"/>
              <a:t>Cheyenne Conner</a:t>
            </a:r>
          </a:p>
          <a:p>
            <a:pPr algn="l"/>
            <a:r>
              <a:rPr lang="en-US" sz="2000"/>
              <a:t>12-03-2024</a:t>
            </a:r>
          </a:p>
          <a:p>
            <a:pPr algn="l"/>
            <a:r>
              <a:rPr lang="en-US" sz="2000"/>
              <a:t>Dr. Kendrix</a:t>
            </a:r>
          </a:p>
          <a:p>
            <a:pPr algn="l"/>
            <a:r>
              <a:rPr lang="en-US" sz="2000"/>
              <a:t>ITI3150-01</a:t>
            </a:r>
          </a:p>
        </p:txBody>
      </p:sp>
      <p:pic>
        <p:nvPicPr>
          <p:cNvPr id="5" name="Picture 4" descr="Person writing on a notepad">
            <a:extLst>
              <a:ext uri="{FF2B5EF4-FFF2-40B4-BE49-F238E27FC236}">
                <a16:creationId xmlns:a16="http://schemas.microsoft.com/office/drawing/2014/main" id="{90C91DBE-3C12-6FB7-E609-870D409A3ED5}"/>
              </a:ext>
            </a:extLst>
          </p:cNvPr>
          <p:cNvPicPr>
            <a:picLocks noChangeAspect="1"/>
          </p:cNvPicPr>
          <p:nvPr/>
        </p:nvPicPr>
        <p:blipFill>
          <a:blip r:embed="rId2"/>
          <a:srcRect l="26782" r="19398"/>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0378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2434F3-941B-0169-8E2F-6915573BD00C}"/>
              </a:ext>
            </a:extLst>
          </p:cNvPr>
          <p:cNvSpPr>
            <a:spLocks noGrp="1"/>
          </p:cNvSpPr>
          <p:nvPr>
            <p:ph type="title"/>
          </p:nvPr>
        </p:nvSpPr>
        <p:spPr>
          <a:xfrm>
            <a:off x="838200" y="365125"/>
            <a:ext cx="10515600" cy="1325563"/>
          </a:xfrm>
        </p:spPr>
        <p:txBody>
          <a:bodyPr>
            <a:normAutofit/>
          </a:bodyPr>
          <a:lstStyle/>
          <a:p>
            <a:r>
              <a:rPr lang="en-US" sz="5400"/>
              <a:t>Contents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A3EDE3-2AE2-4F11-D0A2-19CDC6BB2A9A}"/>
              </a:ext>
            </a:extLst>
          </p:cNvPr>
          <p:cNvSpPr>
            <a:spLocks noGrp="1"/>
          </p:cNvSpPr>
          <p:nvPr>
            <p:ph idx="1"/>
          </p:nvPr>
        </p:nvSpPr>
        <p:spPr>
          <a:xfrm>
            <a:off x="838200" y="1929384"/>
            <a:ext cx="10515600" cy="4251960"/>
          </a:xfrm>
        </p:spPr>
        <p:txBody>
          <a:bodyPr>
            <a:normAutofit/>
          </a:bodyPr>
          <a:lstStyle/>
          <a:p>
            <a:r>
              <a:rPr lang="en-US" sz="2200"/>
              <a:t>Title:  Slide 1</a:t>
            </a:r>
          </a:p>
          <a:p>
            <a:r>
              <a:rPr lang="en-US" sz="2200"/>
              <a:t>Contents: Slide 2</a:t>
            </a:r>
          </a:p>
          <a:p>
            <a:r>
              <a:rPr lang="en-US" sz="2200"/>
              <a:t>1. Project Charter Document: Slides 3-4</a:t>
            </a:r>
          </a:p>
          <a:p>
            <a:r>
              <a:rPr lang="en-US" sz="2200"/>
              <a:t>2. Work Breakdown Structure: Slide 5</a:t>
            </a:r>
          </a:p>
          <a:p>
            <a:r>
              <a:rPr lang="en-US" sz="2200"/>
              <a:t>3. Project Gant Chart: Slide 6</a:t>
            </a:r>
          </a:p>
          <a:p>
            <a:r>
              <a:rPr lang="en-US" sz="2200"/>
              <a:t>4. Project Budget Estimate: Slide 7</a:t>
            </a:r>
          </a:p>
          <a:p>
            <a:r>
              <a:rPr lang="en-US" sz="2200"/>
              <a:t>5. Statement of Work: Slides 8-12</a:t>
            </a:r>
          </a:p>
          <a:p>
            <a:r>
              <a:rPr lang="en-US" sz="2200"/>
              <a:t>Questions: Slide 13</a:t>
            </a:r>
          </a:p>
        </p:txBody>
      </p:sp>
    </p:spTree>
    <p:extLst>
      <p:ext uri="{BB962C8B-B14F-4D97-AF65-F5344CB8AC3E}">
        <p14:creationId xmlns:p14="http://schemas.microsoft.com/office/powerpoint/2010/main" val="3284670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764E8A-20C4-32DB-8B2E-FD0CEDFE4846}"/>
              </a:ext>
            </a:extLst>
          </p:cNvPr>
          <p:cNvSpPr>
            <a:spLocks noGrp="1"/>
          </p:cNvSpPr>
          <p:nvPr>
            <p:ph type="title"/>
          </p:nvPr>
        </p:nvSpPr>
        <p:spPr>
          <a:xfrm>
            <a:off x="5297762" y="329184"/>
            <a:ext cx="6251110" cy="1783080"/>
          </a:xfrm>
        </p:spPr>
        <p:txBody>
          <a:bodyPr anchor="b">
            <a:normAutofit/>
          </a:bodyPr>
          <a:lstStyle/>
          <a:p>
            <a:r>
              <a:rPr lang="en-US" sz="5400"/>
              <a:t>Project Charter Key Points</a:t>
            </a:r>
          </a:p>
        </p:txBody>
      </p:sp>
      <p:pic>
        <p:nvPicPr>
          <p:cNvPr id="5" name="Picture 4" descr="Two people holding each other's hands">
            <a:extLst>
              <a:ext uri="{FF2B5EF4-FFF2-40B4-BE49-F238E27FC236}">
                <a16:creationId xmlns:a16="http://schemas.microsoft.com/office/drawing/2014/main" id="{8BEAB4D0-F3A7-9ED6-7EB7-05CD4B0ABAAC}"/>
              </a:ext>
            </a:extLst>
          </p:cNvPr>
          <p:cNvPicPr>
            <a:picLocks noChangeAspect="1"/>
          </p:cNvPicPr>
          <p:nvPr/>
        </p:nvPicPr>
        <p:blipFill>
          <a:blip r:embed="rId2"/>
          <a:srcRect l="24281" r="30388"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D1A71E-2FFB-BBF8-DE26-32B9B983B37B}"/>
              </a:ext>
            </a:extLst>
          </p:cNvPr>
          <p:cNvSpPr>
            <a:spLocks noGrp="1"/>
          </p:cNvSpPr>
          <p:nvPr>
            <p:ph idx="1"/>
          </p:nvPr>
        </p:nvSpPr>
        <p:spPr>
          <a:xfrm>
            <a:off x="5297762" y="2706624"/>
            <a:ext cx="6251110" cy="3483864"/>
          </a:xfrm>
        </p:spPr>
        <p:txBody>
          <a:bodyPr>
            <a:normAutofit/>
          </a:bodyPr>
          <a:lstStyle/>
          <a:p>
            <a:r>
              <a:rPr lang="en-US" sz="1400"/>
              <a:t>Name: Pulse App: Elderly Health</a:t>
            </a:r>
          </a:p>
          <a:p>
            <a:r>
              <a:rPr lang="en-US" sz="1400"/>
              <a:t>Company: Keenology Tech LLC.</a:t>
            </a:r>
          </a:p>
          <a:p>
            <a:r>
              <a:rPr lang="en-US" sz="1400"/>
              <a:t>The purpose of the Pulse App is to allow elderly patients to keep track of all appointments and health needs in one place and is easy to access. </a:t>
            </a:r>
          </a:p>
          <a:p>
            <a:r>
              <a:rPr lang="en-US" sz="1400"/>
              <a:t>This Project will help tackle the problem of elderly declining memories and ensure that they will have a place to store all their important information in a safe place.  </a:t>
            </a:r>
          </a:p>
          <a:p>
            <a:r>
              <a:rPr lang="en-US" sz="1400"/>
              <a:t>The project will include an app guide and a how to use guide. </a:t>
            </a:r>
          </a:p>
          <a:p>
            <a:r>
              <a:rPr lang="en-US" sz="1400"/>
              <a:t>The objectives of the Pulse App are to help the elderly navigate their declining age with technology that is rapidly growing. </a:t>
            </a:r>
          </a:p>
          <a:p>
            <a:r>
              <a:rPr lang="en-US" sz="1400"/>
              <a:t>The risk of this app is to create a safe place for the elderly to store information while also making it strong enough where their information cannot be hacked. </a:t>
            </a:r>
          </a:p>
        </p:txBody>
      </p:sp>
    </p:spTree>
    <p:extLst>
      <p:ext uri="{BB962C8B-B14F-4D97-AF65-F5344CB8AC3E}">
        <p14:creationId xmlns:p14="http://schemas.microsoft.com/office/powerpoint/2010/main" val="1463120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1F1D41-5A97-DEB6-D186-78FEBDB72834}"/>
              </a:ext>
            </a:extLst>
          </p:cNvPr>
          <p:cNvSpPr>
            <a:spLocks noGrp="1"/>
          </p:cNvSpPr>
          <p:nvPr>
            <p:ph type="title"/>
          </p:nvPr>
        </p:nvSpPr>
        <p:spPr>
          <a:xfrm>
            <a:off x="761800" y="762001"/>
            <a:ext cx="5334197" cy="1708242"/>
          </a:xfrm>
        </p:spPr>
        <p:txBody>
          <a:bodyPr anchor="ctr">
            <a:normAutofit/>
          </a:bodyPr>
          <a:lstStyle/>
          <a:p>
            <a:r>
              <a:rPr lang="en-US" sz="4000"/>
              <a:t>Charter Continued</a:t>
            </a:r>
          </a:p>
        </p:txBody>
      </p:sp>
      <p:sp>
        <p:nvSpPr>
          <p:cNvPr id="3" name="Content Placeholder 2">
            <a:extLst>
              <a:ext uri="{FF2B5EF4-FFF2-40B4-BE49-F238E27FC236}">
                <a16:creationId xmlns:a16="http://schemas.microsoft.com/office/drawing/2014/main" id="{11F672BE-7855-03F9-6ACC-0689ACCA7771}"/>
              </a:ext>
            </a:extLst>
          </p:cNvPr>
          <p:cNvSpPr>
            <a:spLocks noGrp="1"/>
          </p:cNvSpPr>
          <p:nvPr>
            <p:ph idx="1"/>
          </p:nvPr>
        </p:nvSpPr>
        <p:spPr>
          <a:xfrm>
            <a:off x="761800" y="2470244"/>
            <a:ext cx="5334197" cy="3769835"/>
          </a:xfrm>
        </p:spPr>
        <p:txBody>
          <a:bodyPr anchor="ctr">
            <a:normAutofit/>
          </a:bodyPr>
          <a:lstStyle/>
          <a:p>
            <a:r>
              <a:rPr lang="en-US" sz="1700"/>
              <a:t>For this project I put myself as the Project Manager.</a:t>
            </a:r>
          </a:p>
          <a:p>
            <a:r>
              <a:rPr lang="en-US" sz="1700"/>
              <a:t>Schedule Timeline:</a:t>
            </a:r>
          </a:p>
          <a:p>
            <a:r>
              <a:rPr lang="en-US" sz="1700"/>
              <a:t>Sep 18, 2024 – Project Plan Complete and Approved</a:t>
            </a:r>
          </a:p>
          <a:p>
            <a:r>
              <a:rPr lang="en-US" sz="1700"/>
              <a:t>Sep 30, 2024 – Pulse App Design Completed</a:t>
            </a:r>
          </a:p>
          <a:p>
            <a:r>
              <a:rPr lang="en-US" sz="1700"/>
              <a:t>Oct 31, 2024 – Prototype Completed</a:t>
            </a:r>
          </a:p>
          <a:p>
            <a:r>
              <a:rPr lang="en-US" sz="1700"/>
              <a:t>Nov 15, 2024 – Testing Completed</a:t>
            </a:r>
          </a:p>
          <a:p>
            <a:r>
              <a:rPr lang="en-US" sz="1700"/>
              <a:t>Dec 1, 2024 – Rollout Test Completed</a:t>
            </a:r>
          </a:p>
          <a:p>
            <a:r>
              <a:rPr lang="en-US" sz="1700"/>
              <a:t>Dec 10, 2024 – App is completed and able to be used</a:t>
            </a:r>
          </a:p>
          <a:p>
            <a:endParaRPr lang="en-US" sz="1700"/>
          </a:p>
        </p:txBody>
      </p:sp>
      <p:pic>
        <p:nvPicPr>
          <p:cNvPr id="5" name="Picture 4" descr="White calendar with a blue pen on top">
            <a:extLst>
              <a:ext uri="{FF2B5EF4-FFF2-40B4-BE49-F238E27FC236}">
                <a16:creationId xmlns:a16="http://schemas.microsoft.com/office/drawing/2014/main" id="{B40FE5EA-08C4-FDC4-0BB0-4160141114B0}"/>
              </a:ext>
            </a:extLst>
          </p:cNvPr>
          <p:cNvPicPr>
            <a:picLocks noChangeAspect="1"/>
          </p:cNvPicPr>
          <p:nvPr/>
        </p:nvPicPr>
        <p:blipFill>
          <a:blip r:embed="rId2"/>
          <a:srcRect l="47903" r="260"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44065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E24683-2631-F303-A057-5FD6523207C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Work Breakdown Structure</a:t>
            </a:r>
          </a:p>
        </p:txBody>
      </p:sp>
      <p:pic>
        <p:nvPicPr>
          <p:cNvPr id="4" name="Content Placeholder 3">
            <a:extLst>
              <a:ext uri="{FF2B5EF4-FFF2-40B4-BE49-F238E27FC236}">
                <a16:creationId xmlns:a16="http://schemas.microsoft.com/office/drawing/2014/main" id="{F3AC6582-CE39-FEE4-FF3C-6929459175C2}"/>
              </a:ext>
            </a:extLst>
          </p:cNvPr>
          <p:cNvPicPr>
            <a:picLocks noGrp="1" noChangeAspect="1"/>
          </p:cNvPicPr>
          <p:nvPr>
            <p:ph idx="1"/>
          </p:nvPr>
        </p:nvPicPr>
        <p:blipFill>
          <a:blip r:embed="rId2"/>
          <a:stretch>
            <a:fillRect/>
          </a:stretch>
        </p:blipFill>
        <p:spPr>
          <a:xfrm>
            <a:off x="4777316" y="885072"/>
            <a:ext cx="6780700" cy="5085527"/>
          </a:xfrm>
          <a:prstGeom prst="rect">
            <a:avLst/>
          </a:prstGeom>
        </p:spPr>
      </p:pic>
    </p:spTree>
    <p:extLst>
      <p:ext uri="{BB962C8B-B14F-4D97-AF65-F5344CB8AC3E}">
        <p14:creationId xmlns:p14="http://schemas.microsoft.com/office/powerpoint/2010/main" val="1809817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6BF91A-AADD-2FC6-9FF4-0A413363D4D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Gant Chart</a:t>
            </a:r>
          </a:p>
        </p:txBody>
      </p:sp>
      <p:pic>
        <p:nvPicPr>
          <p:cNvPr id="5" name="Content Placeholder 4">
            <a:extLst>
              <a:ext uri="{FF2B5EF4-FFF2-40B4-BE49-F238E27FC236}">
                <a16:creationId xmlns:a16="http://schemas.microsoft.com/office/drawing/2014/main" id="{8CB3B864-1AFE-E933-1DD1-853B0B864CB1}"/>
              </a:ext>
            </a:extLst>
          </p:cNvPr>
          <p:cNvPicPr>
            <a:picLocks noGrp="1" noChangeAspect="1"/>
          </p:cNvPicPr>
          <p:nvPr>
            <p:ph idx="1"/>
          </p:nvPr>
        </p:nvPicPr>
        <p:blipFill>
          <a:blip r:embed="rId2"/>
          <a:stretch>
            <a:fillRect/>
          </a:stretch>
        </p:blipFill>
        <p:spPr>
          <a:xfrm>
            <a:off x="4782414" y="643466"/>
            <a:ext cx="6770504" cy="5568739"/>
          </a:xfrm>
          <a:prstGeom prst="rect">
            <a:avLst/>
          </a:prstGeom>
        </p:spPr>
      </p:pic>
    </p:spTree>
    <p:extLst>
      <p:ext uri="{BB962C8B-B14F-4D97-AF65-F5344CB8AC3E}">
        <p14:creationId xmlns:p14="http://schemas.microsoft.com/office/powerpoint/2010/main" val="4131131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702F6709-6034-9C0E-9A70-888F68EBD487}"/>
              </a:ext>
            </a:extLst>
          </p:cNvPr>
          <p:cNvSpPr>
            <a:spLocks noGrp="1"/>
          </p:cNvSpPr>
          <p:nvPr>
            <p:ph type="title"/>
          </p:nvPr>
        </p:nvSpPr>
        <p:spPr>
          <a:xfrm>
            <a:off x="723901" y="509587"/>
            <a:ext cx="7649239" cy="742951"/>
          </a:xfrm>
        </p:spPr>
        <p:txBody>
          <a:bodyPr vert="horz" lIns="91440" tIns="45720" rIns="91440" bIns="45720" rtlCol="0" anchor="ctr">
            <a:normAutofit/>
          </a:bodyPr>
          <a:lstStyle/>
          <a:p>
            <a:r>
              <a:rPr lang="en-US" sz="3600" kern="1200">
                <a:solidFill>
                  <a:schemeClr val="tx1"/>
                </a:solidFill>
                <a:latin typeface="+mj-lt"/>
                <a:ea typeface="+mj-ea"/>
                <a:cs typeface="+mj-cs"/>
              </a:rPr>
              <a:t>Cost Estimate</a:t>
            </a:r>
          </a:p>
        </p:txBody>
      </p:sp>
      <p:pic>
        <p:nvPicPr>
          <p:cNvPr id="5" name="Content Placeholder 4">
            <a:extLst>
              <a:ext uri="{FF2B5EF4-FFF2-40B4-BE49-F238E27FC236}">
                <a16:creationId xmlns:a16="http://schemas.microsoft.com/office/drawing/2014/main" id="{AA00951F-A77C-8610-7A06-C0482F6CA6F0}"/>
              </a:ext>
            </a:extLst>
          </p:cNvPr>
          <p:cNvPicPr>
            <a:picLocks noGrp="1" noChangeAspect="1"/>
          </p:cNvPicPr>
          <p:nvPr>
            <p:ph idx="1"/>
          </p:nvPr>
        </p:nvPicPr>
        <p:blipFill>
          <a:blip r:embed="rId2"/>
          <a:stretch>
            <a:fillRect/>
          </a:stretch>
        </p:blipFill>
        <p:spPr>
          <a:xfrm>
            <a:off x="705972" y="2427259"/>
            <a:ext cx="10768181" cy="3418897"/>
          </a:xfrm>
          <a:prstGeom prst="rect">
            <a:avLst/>
          </a:prstGeom>
        </p:spPr>
      </p:pic>
      <p:sp>
        <p:nvSpPr>
          <p:cNvPr id="14" name="Freeform: Shape 13">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6669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32797-7913-2CC0-EB71-1F36C584897C}"/>
              </a:ext>
            </a:extLst>
          </p:cNvPr>
          <p:cNvSpPr>
            <a:spLocks noGrp="1"/>
          </p:cNvSpPr>
          <p:nvPr>
            <p:ph type="title"/>
          </p:nvPr>
        </p:nvSpPr>
        <p:spPr>
          <a:xfrm>
            <a:off x="838200" y="365125"/>
            <a:ext cx="10515600" cy="1325563"/>
          </a:xfrm>
        </p:spPr>
        <p:txBody>
          <a:bodyPr>
            <a:normAutofit/>
          </a:bodyPr>
          <a:lstStyle/>
          <a:p>
            <a:r>
              <a:rPr lang="en-US" sz="5400"/>
              <a:t>Statement of Work</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5112CA4-1B8F-B1D6-80F8-DEF450EB6BF9}"/>
              </a:ext>
            </a:extLst>
          </p:cNvPr>
          <p:cNvSpPr>
            <a:spLocks noGrp="1"/>
          </p:cNvSpPr>
          <p:nvPr>
            <p:ph idx="1"/>
          </p:nvPr>
        </p:nvSpPr>
        <p:spPr>
          <a:xfrm>
            <a:off x="838200" y="1929384"/>
            <a:ext cx="10515600" cy="4251960"/>
          </a:xfrm>
        </p:spPr>
        <p:txBody>
          <a:bodyPr>
            <a:normAutofit/>
          </a:bodyPr>
          <a:lstStyle/>
          <a:p>
            <a:r>
              <a:rPr lang="en-US" sz="2200"/>
              <a:t>Scope Inclusions:</a:t>
            </a:r>
          </a:p>
          <a:p>
            <a:endParaRPr lang="en-US" sz="2200"/>
          </a:p>
          <a:p>
            <a:r>
              <a:rPr lang="en-US" sz="2200"/>
              <a:t>Design &amp; Development of a mobile app that is easy to navigate for elderly users.</a:t>
            </a:r>
          </a:p>
          <a:p>
            <a:r>
              <a:rPr lang="en-US" sz="2200"/>
              <a:t>Security Features to ensure that all user data is stored safely and protected from potential hacking.</a:t>
            </a:r>
          </a:p>
          <a:p>
            <a:r>
              <a:rPr lang="en-US" sz="2200"/>
              <a:t>Testing &amp; Debugging to ensure the app operates smoothly and reliably.</a:t>
            </a:r>
          </a:p>
          <a:p>
            <a:r>
              <a:rPr lang="en-US" sz="2200"/>
              <a:t>User Guide &amp; Training Materials to help elderly patients understand how to use the app effectively.</a:t>
            </a:r>
          </a:p>
          <a:p>
            <a:r>
              <a:rPr lang="en-US" sz="2200"/>
              <a:t>Launch &amp; Post-launch Support to ensure smooth rollout and address user feedback.</a:t>
            </a:r>
          </a:p>
          <a:p>
            <a:endParaRPr lang="en-US" sz="2200"/>
          </a:p>
        </p:txBody>
      </p:sp>
    </p:spTree>
    <p:extLst>
      <p:ext uri="{BB962C8B-B14F-4D97-AF65-F5344CB8AC3E}">
        <p14:creationId xmlns:p14="http://schemas.microsoft.com/office/powerpoint/2010/main" val="3327556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4B8611-3216-B86F-7A72-4C9594667EA1}"/>
              </a:ext>
            </a:extLst>
          </p:cNvPr>
          <p:cNvSpPr>
            <a:spLocks noGrp="1"/>
          </p:cNvSpPr>
          <p:nvPr>
            <p:ph type="title"/>
          </p:nvPr>
        </p:nvSpPr>
        <p:spPr>
          <a:xfrm>
            <a:off x="838200" y="365125"/>
            <a:ext cx="10515600" cy="1325563"/>
          </a:xfrm>
        </p:spPr>
        <p:txBody>
          <a:bodyPr>
            <a:normAutofit/>
          </a:bodyPr>
          <a:lstStyle/>
          <a:p>
            <a:r>
              <a:rPr lang="en-US" sz="5400"/>
              <a:t>SOW</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7AB06C-0C2B-ECDF-9670-EA2E49F4AEE5}"/>
              </a:ext>
            </a:extLst>
          </p:cNvPr>
          <p:cNvSpPr>
            <a:spLocks noGrp="1"/>
          </p:cNvSpPr>
          <p:nvPr>
            <p:ph idx="1"/>
          </p:nvPr>
        </p:nvSpPr>
        <p:spPr>
          <a:xfrm>
            <a:off x="838200" y="1929384"/>
            <a:ext cx="10515600" cy="4251960"/>
          </a:xfrm>
        </p:spPr>
        <p:txBody>
          <a:bodyPr>
            <a:normAutofit/>
          </a:bodyPr>
          <a:lstStyle/>
          <a:p>
            <a:r>
              <a:rPr lang="en-US" sz="2200"/>
              <a:t>Scope Exclusions:</a:t>
            </a:r>
          </a:p>
          <a:p>
            <a:r>
              <a:rPr lang="en-US" sz="2200"/>
              <a:t>Physical devices (phones/tablets) for users.</a:t>
            </a:r>
          </a:p>
          <a:p>
            <a:r>
              <a:rPr lang="en-US" sz="2200"/>
              <a:t>Integration with external health systems (e.g., hospital databases).</a:t>
            </a:r>
          </a:p>
          <a:p>
            <a:r>
              <a:rPr lang="en-US" sz="2200"/>
              <a:t>Ongoing support beyond the initial post-launch period.</a:t>
            </a:r>
          </a:p>
          <a:p>
            <a:r>
              <a:rPr lang="en-US" sz="2200"/>
              <a:t>The primary objective of the Pulse App project is to create a platform where elderly patients can track all their health-related information (appointments, medications, etc.) in one secure, easy-to-use app. The app will address the issue of declining memory among the elderly by ensuring they have a reliable way to store and retrieve their health information.</a:t>
            </a:r>
          </a:p>
        </p:txBody>
      </p:sp>
    </p:spTree>
    <p:extLst>
      <p:ext uri="{BB962C8B-B14F-4D97-AF65-F5344CB8AC3E}">
        <p14:creationId xmlns:p14="http://schemas.microsoft.com/office/powerpoint/2010/main" val="1665536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170AE0-67B3-5CED-975F-3A0D991CD1D5}"/>
              </a:ext>
            </a:extLst>
          </p:cNvPr>
          <p:cNvSpPr>
            <a:spLocks noGrp="1"/>
          </p:cNvSpPr>
          <p:nvPr>
            <p:ph type="title"/>
          </p:nvPr>
        </p:nvSpPr>
        <p:spPr>
          <a:xfrm>
            <a:off x="838200" y="365125"/>
            <a:ext cx="10515600" cy="1325563"/>
          </a:xfrm>
        </p:spPr>
        <p:txBody>
          <a:bodyPr>
            <a:normAutofit/>
          </a:bodyPr>
          <a:lstStyle/>
          <a:p>
            <a:r>
              <a:rPr lang="en-US" sz="5400"/>
              <a:t>SOW</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DADC68-0EC1-3C4B-7891-7FB7BC87318F}"/>
              </a:ext>
            </a:extLst>
          </p:cNvPr>
          <p:cNvSpPr>
            <a:spLocks noGrp="1"/>
          </p:cNvSpPr>
          <p:nvPr>
            <p:ph idx="1"/>
          </p:nvPr>
        </p:nvSpPr>
        <p:spPr>
          <a:xfrm>
            <a:off x="838200" y="1929384"/>
            <a:ext cx="10515600" cy="4251960"/>
          </a:xfrm>
        </p:spPr>
        <p:txBody>
          <a:bodyPr>
            <a:normAutofit/>
          </a:bodyPr>
          <a:lstStyle/>
          <a:p>
            <a:r>
              <a:rPr lang="en-US" sz="2200"/>
              <a:t>The success of the project will be measured by the following criteria:</a:t>
            </a:r>
          </a:p>
          <a:p>
            <a:r>
              <a:rPr lang="en-US" sz="2200"/>
              <a:t>The app is functional and free from critical bugs.</a:t>
            </a:r>
          </a:p>
          <a:p>
            <a:r>
              <a:rPr lang="en-US" sz="2200"/>
              <a:t>Elderly users can easily navigate the app with minimal training.</a:t>
            </a:r>
          </a:p>
          <a:p>
            <a:r>
              <a:rPr lang="en-US" sz="2200"/>
              <a:t> The app is secure, with no breaches of privacy or data.</a:t>
            </a:r>
          </a:p>
          <a:p>
            <a:r>
              <a:rPr lang="en-US" sz="2200"/>
              <a:t>Positive feedback from initial user trials and the app’s full implementation.</a:t>
            </a:r>
          </a:p>
          <a:p>
            <a:endParaRPr lang="en-US" sz="2200"/>
          </a:p>
        </p:txBody>
      </p:sp>
    </p:spTree>
    <p:extLst>
      <p:ext uri="{BB962C8B-B14F-4D97-AF65-F5344CB8AC3E}">
        <p14:creationId xmlns:p14="http://schemas.microsoft.com/office/powerpoint/2010/main" val="1796889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9575E01-7B1C-92AB-2524-288766D76CFF}"/>
              </a:ext>
            </a:extLst>
          </p:cNvPr>
          <p:cNvPicPr>
            <a:picLocks noChangeAspect="1"/>
          </p:cNvPicPr>
          <p:nvPr/>
        </p:nvPicPr>
        <p:blipFill>
          <a:blip r:embed="rId2">
            <a:duotone>
              <a:schemeClr val="bg2">
                <a:shade val="45000"/>
                <a:satMod val="135000"/>
              </a:schemeClr>
              <a:prstClr val="white"/>
            </a:duotone>
          </a:blip>
          <a:srcRect/>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78E9DD-B61A-E151-F1DD-1A87F4D3FDA6}"/>
              </a:ext>
            </a:extLst>
          </p:cNvPr>
          <p:cNvSpPr>
            <a:spLocks noGrp="1"/>
          </p:cNvSpPr>
          <p:nvPr>
            <p:ph type="title"/>
          </p:nvPr>
        </p:nvSpPr>
        <p:spPr>
          <a:xfrm>
            <a:off x="838200" y="365125"/>
            <a:ext cx="10515600" cy="1325563"/>
          </a:xfrm>
        </p:spPr>
        <p:txBody>
          <a:bodyPr>
            <a:normAutofit/>
          </a:bodyPr>
          <a:lstStyle/>
          <a:p>
            <a:r>
              <a:rPr lang="en-US"/>
              <a:t>SOW</a:t>
            </a:r>
            <a:endParaRPr lang="en-US" dirty="0"/>
          </a:p>
        </p:txBody>
      </p:sp>
      <p:graphicFrame>
        <p:nvGraphicFramePr>
          <p:cNvPr id="5" name="Content Placeholder 2">
            <a:extLst>
              <a:ext uri="{FF2B5EF4-FFF2-40B4-BE49-F238E27FC236}">
                <a16:creationId xmlns:a16="http://schemas.microsoft.com/office/drawing/2014/main" id="{991BBD98-78C9-FD18-B2C3-E852B4F3C23F}"/>
              </a:ext>
            </a:extLst>
          </p:cNvPr>
          <p:cNvGraphicFramePr>
            <a:graphicFrameLocks noGrp="1"/>
          </p:cNvGraphicFramePr>
          <p:nvPr>
            <p:ph idx="1"/>
            <p:extLst>
              <p:ext uri="{D42A27DB-BD31-4B8C-83A1-F6EECF244321}">
                <p14:modId xmlns:p14="http://schemas.microsoft.com/office/powerpoint/2010/main" val="21511992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1092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8D233-01DF-DF7E-75C7-95FF53FE5C1B}"/>
              </a:ext>
            </a:extLst>
          </p:cNvPr>
          <p:cNvSpPr>
            <a:spLocks noGrp="1"/>
          </p:cNvSpPr>
          <p:nvPr>
            <p:ph type="title"/>
          </p:nvPr>
        </p:nvSpPr>
        <p:spPr>
          <a:xfrm>
            <a:off x="838200" y="365125"/>
            <a:ext cx="10515600" cy="1325563"/>
          </a:xfrm>
        </p:spPr>
        <p:txBody>
          <a:bodyPr>
            <a:normAutofit/>
          </a:bodyPr>
          <a:lstStyle/>
          <a:p>
            <a:r>
              <a:rPr lang="en-US" sz="5400"/>
              <a:t>SOW</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0EE039-BAC9-7F09-D1F9-9E0A135AF49E}"/>
              </a:ext>
            </a:extLst>
          </p:cNvPr>
          <p:cNvSpPr>
            <a:spLocks noGrp="1"/>
          </p:cNvSpPr>
          <p:nvPr>
            <p:ph idx="1"/>
          </p:nvPr>
        </p:nvSpPr>
        <p:spPr>
          <a:xfrm>
            <a:off x="838200" y="1929384"/>
            <a:ext cx="10515600" cy="4251960"/>
          </a:xfrm>
        </p:spPr>
        <p:txBody>
          <a:bodyPr>
            <a:normAutofit/>
          </a:bodyPr>
          <a:lstStyle/>
          <a:p>
            <a:r>
              <a:rPr lang="en-US" sz="1900"/>
              <a:t>The project team consists of the Project Manager, Development Team, Quality Assurance (QA) Team, and Project Sponsor. </a:t>
            </a:r>
          </a:p>
          <a:p>
            <a:r>
              <a:rPr lang="en-US" sz="1900"/>
              <a:t>The Project Manager, Cheyenne Conner, oversees the project plan, resources, timeline, and communication between stakeholders. </a:t>
            </a:r>
          </a:p>
          <a:p>
            <a:r>
              <a:rPr lang="en-US" sz="1900"/>
              <a:t>The Development Team is responsible for designing, coding, and testing the Pulse App, ensuring its security and usability, while providing post-launch support. </a:t>
            </a:r>
          </a:p>
          <a:p>
            <a:r>
              <a:rPr lang="en-US" sz="1900"/>
              <a:t>The QA Team tests the app for functionality, security, and usability, providing feedback to ensure reliability. </a:t>
            </a:r>
          </a:p>
          <a:p>
            <a:r>
              <a:rPr lang="en-US" sz="1900"/>
              <a:t>The Project Sponsor, Keenology Tech LLC, approves deliverables and ensures the project aligns with organizational goals. Identified risks include security concerns, user adoption challenges, timeline delays, and potential budget overruns, with mitigation strategies in place.</a:t>
            </a:r>
          </a:p>
          <a:p>
            <a:r>
              <a:rPr lang="en-US" sz="1900"/>
              <a:t> The project will be deemed complete when all deliverables are met, the app is functional, secure, and user-friendly, and positive feedback is received from the target audience.</a:t>
            </a:r>
          </a:p>
        </p:txBody>
      </p:sp>
    </p:spTree>
    <p:extLst>
      <p:ext uri="{BB962C8B-B14F-4D97-AF65-F5344CB8AC3E}">
        <p14:creationId xmlns:p14="http://schemas.microsoft.com/office/powerpoint/2010/main" val="240504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onnsiteX0" fmla="*/ 0 w 5649003"/>
              <a:gd name="connsiteY0" fmla="*/ 5325836 h 10651671"/>
              <a:gd name="connsiteX1" fmla="*/ 2824502 w 5649003"/>
              <a:gd name="connsiteY1" fmla="*/ 0 h 10651671"/>
              <a:gd name="connsiteX2" fmla="*/ 5649004 w 5649003"/>
              <a:gd name="connsiteY2" fmla="*/ 5325836 h 10651671"/>
              <a:gd name="connsiteX3" fmla="*/ 2824502 w 5649003"/>
              <a:gd name="connsiteY3" fmla="*/ 10651672 h 10651671"/>
              <a:gd name="connsiteX4" fmla="*/ 0 w 5649003"/>
              <a:gd name="connsiteY4" fmla="*/ 5325836 h 10651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E48583-B5DC-D335-B5E4-2CF80BAAA6EA}"/>
              </a:ext>
            </a:extLst>
          </p:cNvPr>
          <p:cNvSpPr>
            <a:spLocks noGrp="1"/>
          </p:cNvSpPr>
          <p:nvPr>
            <p:ph type="title"/>
          </p:nvPr>
        </p:nvSpPr>
        <p:spPr>
          <a:xfrm>
            <a:off x="2066544" y="1911096"/>
            <a:ext cx="8055864" cy="2076651"/>
          </a:xfrm>
        </p:spPr>
        <p:txBody>
          <a:bodyPr vert="horz" lIns="91440" tIns="45720" rIns="91440" bIns="45720" rtlCol="0" anchor="b">
            <a:normAutofit/>
          </a:bodyPr>
          <a:lstStyle/>
          <a:p>
            <a:pPr algn="ctr"/>
            <a:r>
              <a:rPr lang="en-US" sz="6600" kern="1200">
                <a:solidFill>
                  <a:srgbClr val="FFFFFF"/>
                </a:solidFill>
                <a:latin typeface="+mj-lt"/>
                <a:ea typeface="+mj-ea"/>
                <a:cs typeface="+mj-cs"/>
              </a:rPr>
              <a:t>Any Questions about the Project?</a:t>
            </a:r>
          </a:p>
        </p:txBody>
      </p:sp>
      <p:sp>
        <p:nvSpPr>
          <p:cNvPr id="3" name="Content Placeholder 2">
            <a:extLst>
              <a:ext uri="{FF2B5EF4-FFF2-40B4-BE49-F238E27FC236}">
                <a16:creationId xmlns:a16="http://schemas.microsoft.com/office/drawing/2014/main" id="{BC45000B-18BE-E41D-4556-D55F6CFA0B8F}"/>
              </a:ext>
            </a:extLst>
          </p:cNvPr>
          <p:cNvSpPr>
            <a:spLocks noGrp="1"/>
          </p:cNvSpPr>
          <p:nvPr>
            <p:ph idx="1"/>
          </p:nvPr>
        </p:nvSpPr>
        <p:spPr>
          <a:xfrm>
            <a:off x="3227832" y="4353507"/>
            <a:ext cx="5733288" cy="932688"/>
          </a:xfrm>
        </p:spPr>
        <p:txBody>
          <a:bodyPr vert="horz" lIns="91440" tIns="45720" rIns="91440" bIns="45720" rtlCol="0">
            <a:normAutofit/>
          </a:bodyPr>
          <a:lstStyle/>
          <a:p>
            <a:pPr marL="0" indent="0" algn="ctr">
              <a:buNone/>
            </a:pPr>
            <a:r>
              <a:rPr lang="en-US" sz="2400" kern="1200">
                <a:solidFill>
                  <a:srgbClr val="FFFFFF"/>
                </a:solidFill>
                <a:latin typeface="+mn-lt"/>
                <a:ea typeface="+mn-ea"/>
                <a:cs typeface="+mn-cs"/>
              </a:rPr>
              <a:t>Thank you for Listening!</a:t>
            </a:r>
          </a:p>
        </p:txBody>
      </p:sp>
      <p:sp>
        <p:nvSpPr>
          <p:cNvPr id="12"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0782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826</Words>
  <Application>Microsoft Office PowerPoint</Application>
  <PresentationFormat>Widescreen</PresentationFormat>
  <Paragraphs>73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IT Project Management Final Project Presentation</vt:lpstr>
      <vt:lpstr>Contents</vt:lpstr>
      <vt:lpstr>Project Charter Key Points</vt:lpstr>
      <vt:lpstr>Charter Continued</vt:lpstr>
      <vt:lpstr>Work Breakdown Structure</vt:lpstr>
      <vt:lpstr>Gant Chart</vt:lpstr>
      <vt:lpstr>Cost Estimate</vt:lpstr>
      <vt:lpstr>Statement of Work</vt:lpstr>
      <vt:lpstr>SOW</vt:lpstr>
      <vt:lpstr>SOW</vt:lpstr>
      <vt:lpstr>SOW</vt:lpstr>
      <vt:lpstr>SOW</vt:lpstr>
      <vt:lpstr>Any Questions about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Conner, Rebekah C</dc:creator>
  <cp:lastModifiedBy>Conner, Rebekah C</cp:lastModifiedBy>
  <cp:revision>2</cp:revision>
  <dcterms:created xsi:type="dcterms:W3CDTF">2024-12-02T20:06:27Z</dcterms:created>
  <dcterms:modified xsi:type="dcterms:W3CDTF">2024-12-03T17:26:34Z</dcterms:modified>
</cp:coreProperties>
</file>