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83" r:id="rId4"/>
  </p:sldMasterIdLst>
  <p:notesMasterIdLst>
    <p:notesMasterId r:id="rId43"/>
  </p:notesMasterIdLst>
  <p:handoutMasterIdLst>
    <p:handoutMasterId r:id="rId44"/>
  </p:handoutMasterIdLst>
  <p:sldIdLst>
    <p:sldId id="325" r:id="rId5"/>
    <p:sldId id="307" r:id="rId6"/>
    <p:sldId id="324" r:id="rId7"/>
    <p:sldId id="338" r:id="rId8"/>
    <p:sldId id="342" r:id="rId9"/>
    <p:sldId id="344" r:id="rId10"/>
    <p:sldId id="341" r:id="rId11"/>
    <p:sldId id="343" r:id="rId12"/>
    <p:sldId id="345" r:id="rId13"/>
    <p:sldId id="348" r:id="rId14"/>
    <p:sldId id="347" r:id="rId15"/>
    <p:sldId id="349" r:id="rId16"/>
    <p:sldId id="364" r:id="rId17"/>
    <p:sldId id="351" r:id="rId18"/>
    <p:sldId id="352" r:id="rId19"/>
    <p:sldId id="365" r:id="rId20"/>
    <p:sldId id="354" r:id="rId21"/>
    <p:sldId id="355" r:id="rId22"/>
    <p:sldId id="366" r:id="rId23"/>
    <p:sldId id="357" r:id="rId24"/>
    <p:sldId id="358" r:id="rId25"/>
    <p:sldId id="367" r:id="rId26"/>
    <p:sldId id="360" r:id="rId27"/>
    <p:sldId id="361" r:id="rId28"/>
    <p:sldId id="379" r:id="rId29"/>
    <p:sldId id="363" r:id="rId30"/>
    <p:sldId id="378" r:id="rId31"/>
    <p:sldId id="380" r:id="rId32"/>
    <p:sldId id="376" r:id="rId33"/>
    <p:sldId id="375" r:id="rId34"/>
    <p:sldId id="381" r:id="rId35"/>
    <p:sldId id="373" r:id="rId36"/>
    <p:sldId id="372" r:id="rId37"/>
    <p:sldId id="382" r:id="rId38"/>
    <p:sldId id="370" r:id="rId39"/>
    <p:sldId id="369" r:id="rId40"/>
    <p:sldId id="383" r:id="rId41"/>
    <p:sldId id="32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94" autoAdjust="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A30A-158D-435B-B1F3-6FF82BD60FDF}" type="datetimeFigureOut">
              <a:rPr lang="en-US" smtClean="0"/>
              <a:t>4/27/2025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A0313-F537-4ED0-973B-4729E10A826A}" type="datetimeFigureOut">
              <a:rPr lang="en-US" smtClean="0"/>
              <a:t>4/27/2025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182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219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839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C8BA2-F6C9-A535-DB38-5966F90F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F394D-AA89-E91F-A994-B34963FCC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5F65A-AAEF-E8FE-ADE5-490B75E5C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EC44F-928B-0A0D-3D0D-9288CCD5B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625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5915-71D1-CD8B-7EB8-EB3EF6C1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76424-A285-58B9-2D41-703C8C8C3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D2156-9313-7789-66DA-E695AB0DD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D8CE2-3D22-02D7-4D90-A1D53B42A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314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E51D3-65A4-D584-E68C-660DAC07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328CC-3F28-FC03-472B-136EC6EA6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55C82-6B54-32C4-7BD0-C4898EBC5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F5D5D-7A37-38B6-5051-ECE271CDD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277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9EDE9-75A7-9A08-8BA4-3BB22922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F6A42E-9A11-F95A-1BB5-B59EEB788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85385-3E2B-1CA2-750B-D83B8FD86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040C2-51EF-3308-26D8-86B193F28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238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18F37-AB6C-9F63-2E9A-FB6CB3052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99477-1905-B456-6084-281AF6D0A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D789E-869B-CD08-BCE6-9BB1D454C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443D5-CF22-A347-1EF3-5D27BA18B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54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F45A3-1DDE-6627-518C-B19760FA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F1DC0-2271-D27B-0F5B-164BB63E2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CA2BF7-6DBE-7261-A8A9-0B4FD1738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EE67E-0A3B-1162-92C4-EB3C22BB2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00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6FD1F-E9A4-DA01-7F19-C6D95D2E5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5413C-A1F2-2B64-3515-5C00E3DC9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CD2F3-3BC2-552D-DAE4-28E300589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55C10-C647-2EDC-4BC2-CC635D091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746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525A4-514A-3CD7-5AF4-AB644A03D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FB4E8-9F7B-1E4C-A56C-B32E10A9C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4887C-026F-CB01-D607-8A2ED1C90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9E0DC-B5C7-F43A-D79A-D34975E30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4971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BA2FE-3EA4-08DF-1856-4687FD9B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4C3E8-3B04-76F1-CA7D-CB79BEC14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29410-91C6-6C84-8D49-5109C06B6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74ED5-358A-1C6A-9F20-1F47F995E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394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98750-8A5A-1776-0DEE-DD0A09B9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2B32C-BD67-E025-AA2C-A23DBFE60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9ECDEA-A2B2-CA50-81CA-AACE878F6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DAEB4-9070-68D2-F0E3-9D724AA85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59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2700F-0BF5-0F38-8E85-A6376A11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4E426-93B8-2E96-50E5-3A227A0E1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52448-9F18-72F4-6F81-40F8B1E32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90249-1C5B-DCD4-5BC9-17F7BD688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889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8CD4E-CE4F-C478-615A-C3F3B834B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6B227-C00B-5F2D-1BDE-E24F9E9FA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46CF4-17A8-E969-A358-051ECA3E8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82A47-5A85-2C72-A4D5-955D43A0C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256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DAA89-7F93-3FD7-B8D9-600FEAB41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4B66F-CFEA-0A5C-8052-B128FEAB2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383DB-87A6-E091-1545-116AD99A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2F9E7-5C12-72F8-EFF6-3BE361475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9482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A136-7D48-9767-B958-A58A01E30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910AA-C28D-0CB3-A361-C1C8764E7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B62EC-0FBA-6EDD-22DA-8C5A6CE40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85AC8-CA6F-0C7B-05E9-7A4867373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3075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AF460-A283-8050-6376-A8874FDC6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2B9578-3811-6A40-7C23-A9EB65C87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FBF9C-AF4D-B86C-FF94-84A740055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4D54F-050C-584E-76EB-6E987D18A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369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42E0C-DC37-8575-B582-70AD1BB6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0C720-FD27-FDED-F2FC-02EC1D2BD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40C18-8453-D6E1-B33D-24EC5134A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6381B-F43A-67BC-CC23-16085EE1C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0205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841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276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272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49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6120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6545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027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1472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01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9915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541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0741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68248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F9E0CFE-F27B-4D50-AA2F-7146CA90E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2138289"/>
            <a:ext cx="12188952" cy="4033912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C488A36-B0CB-7B46-C2A6-BA57D39EC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7860" r="37853" b="27738"/>
          <a:stretch/>
        </p:blipFill>
        <p:spPr>
          <a:xfrm>
            <a:off x="6962087" y="2143124"/>
            <a:ext cx="5226865" cy="403383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8614BA2-9387-F1B5-B7DB-B34DAE90FE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7" y="365125"/>
            <a:ext cx="10778937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94EC89-4FAE-445C-A6E8-D55E4A34DE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9" y="2350108"/>
            <a:ext cx="10778221" cy="3609461"/>
          </a:xfrm>
        </p:spPr>
        <p:txBody>
          <a:bodyPr anchor="ctr" anchorCtr="0">
            <a:normAutofit/>
          </a:bodyPr>
          <a:lstStyle>
            <a:lvl1pPr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ECF93F-3E86-4C44-BAF1-ADE160CAD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A80DA6A-71F3-6286-F60A-EEEC91887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F98B46-5DFC-3487-EB05-148905CA6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138288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768F8E-3DFF-8D92-E3CF-5AE5F6DA5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045761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83A1EA-5EE3-D81A-D135-860F481F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6472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EA58FF-2FB1-3B78-FDCF-E5DC2EFE5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326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2"/>
            <a:ext cx="5646541" cy="5295371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768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415B1A-CA14-E219-0C7F-0B38B1684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83096" y="1"/>
            <a:ext cx="5013088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BA35BB-6689-91C0-7D75-944092B3C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1949B5-8206-3159-8E9E-E95F2A9AA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483096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97BFBC-DA17-6BEB-A937-333E9504D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363569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F9A5C70-EFC4-1BAB-285F-B317FAF474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073F905-5A3E-F9EB-B095-7A3A17C1E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249" t="13424" r="28018" b="11087"/>
          <a:stretch/>
        </p:blipFill>
        <p:spPr>
          <a:xfrm>
            <a:off x="6472427" y="0"/>
            <a:ext cx="5023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01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9BDEB7A-D103-487A-8C1B-9145FB24B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897" y="539496"/>
            <a:ext cx="5228393" cy="269719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sz="4800" dirty="0"/>
              <a:t>Click to add title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017A3E-25F7-41D5-AABB-24D0E2673A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7" y="3354749"/>
            <a:ext cx="5228392" cy="258247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5C0C26-4C66-47DC-B079-5B94C22F1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E30B1-7066-9D31-7A11-7B81B65D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E672D-C862-C853-0730-15E3C4953D67}"/>
              </a:ext>
            </a:extLst>
          </p:cNvPr>
          <p:cNvSpPr/>
          <p:nvPr userDrawn="1"/>
        </p:nvSpPr>
        <p:spPr>
          <a:xfrm>
            <a:off x="9884230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0336ED-3DCB-4524-8A3F-9FBBD0B18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15F86B-1A6A-ECD5-F63A-4280BADEF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88423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5534F0-444E-1FA5-FC8F-F04505FC0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76862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19972F-DA18-8749-FF59-A83CA1E1F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372495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67D80A1-B7E7-2F80-975E-2E87C591BB67}"/>
              </a:ext>
            </a:extLst>
          </p:cNvPr>
          <p:cNvSpPr/>
          <p:nvPr userDrawn="1"/>
        </p:nvSpPr>
        <p:spPr>
          <a:xfrm>
            <a:off x="7760541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88F6AB-6890-F7DE-7C01-CE237F778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48135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6575E3-45E3-206E-9037-D8FD562B7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7605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E4BC31-600E-ECD3-1E7F-FE4F6F720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644933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3F8CA839-B327-1ECD-C35D-02164F5BBD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706" t="12194" r="49126" b="12256"/>
          <a:stretch/>
        </p:blipFill>
        <p:spPr>
          <a:xfrm>
            <a:off x="9884229" y="-5609"/>
            <a:ext cx="1611955" cy="686360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1A97957-D274-4D24-1862-D53BF728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790" t="12194" r="70042" b="12256"/>
          <a:stretch/>
        </p:blipFill>
        <p:spPr>
          <a:xfrm>
            <a:off x="7753789" y="5610"/>
            <a:ext cx="1611955" cy="686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0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8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  <p:sldLayoutId id="2147483897" r:id="rId14"/>
    <p:sldLayoutId id="2147483898" r:id="rId15"/>
    <p:sldLayoutId id="2147483907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Presentation Slides</a:t>
            </a:r>
            <a:br>
              <a:rPr lang="en-US" dirty="0"/>
            </a:br>
            <a:r>
              <a:rPr lang="en-US" sz="1600" dirty="0">
                <a:latin typeface="+mn-lt"/>
              </a:rPr>
              <a:t>By: Rebekah Cheyenne Conner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04-27-2025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Course: ITI-3690-02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 Intrusion Detection/ Crisis Mgt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Dr. Pete Hsieh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689D8-CDAC-4215-96CD-8548432C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0502F-36D4-4E60-B6E9-08628B2C5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1 …	3			Chapter 7 …  22</a:t>
            </a:r>
          </a:p>
          <a:p>
            <a:r>
              <a:rPr lang="en-US" dirty="0"/>
              <a:t>Chapter 2 …	7			Chapter 8 …  25</a:t>
            </a:r>
          </a:p>
          <a:p>
            <a:r>
              <a:rPr lang="en-US" dirty="0"/>
              <a:t>Chapter 3 …	10			Chapter 9 …  28</a:t>
            </a:r>
          </a:p>
          <a:p>
            <a:r>
              <a:rPr lang="en-US" dirty="0"/>
              <a:t>Chapter 4 … 	13			Chapter 10 … 31</a:t>
            </a:r>
          </a:p>
          <a:p>
            <a:r>
              <a:rPr lang="en-US" dirty="0"/>
              <a:t>Chapter 5 …	16			Chapter 11 … 34</a:t>
            </a:r>
          </a:p>
          <a:p>
            <a:r>
              <a:rPr lang="en-US" dirty="0"/>
              <a:t>Chapter 6…	19			References …  37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86A23B90-D6E2-D980-7780-B6FC54FD8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E0FD4B5-4088-0CC7-E6CC-DEA779045EB0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30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AD7B4-5997-4A95-A2A9-773DF1F4CE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 </a:t>
            </a:r>
            <a:br>
              <a:rPr lang="en-US" dirty="0"/>
            </a:br>
            <a:r>
              <a:rPr lang="en-US" dirty="0"/>
              <a:t>Understanding Threats</a:t>
            </a:r>
          </a:p>
        </p:txBody>
      </p:sp>
      <p:pic>
        <p:nvPicPr>
          <p:cNvPr id="11" name="Picture Placeholder 10" descr="A white couch with a vase of flowers on a table">
            <a:extLst>
              <a:ext uri="{FF2B5EF4-FFF2-40B4-BE49-F238E27FC236}">
                <a16:creationId xmlns:a16="http://schemas.microsoft.com/office/drawing/2014/main" id="{A60861AD-2CA4-6BDB-1C16-80DACA44486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" b="29"/>
          <a:stretch/>
        </p:blipFill>
        <p:spPr/>
      </p:pic>
    </p:spTree>
    <p:extLst>
      <p:ext uri="{BB962C8B-B14F-4D97-AF65-F5344CB8AC3E}">
        <p14:creationId xmlns:p14="http://schemas.microsoft.com/office/powerpoint/2010/main" val="93689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4552F1CF-68AA-447B-B5B0-C65BB72A5D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481263"/>
            <a:ext cx="5673726" cy="572703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“To Protect assets, you need to ask questions about it and the risks you face.”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There are 3 types of threat classifications: Known, Unknown and zero-day.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4 threat sources are Adversarial, Accidental, Structural, and Environmental.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Threat Actor Qualities are Intent, Sophistication, Resources, Location, and Target Information.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types are Script Kidde's, Hacktivists, Organized Crime, Competitor, Insider, Nation-state, and Advanced Persistent Threat (APT)</a:t>
            </a:r>
          </a:p>
        </p:txBody>
      </p:sp>
    </p:spTree>
    <p:extLst>
      <p:ext uri="{BB962C8B-B14F-4D97-AF65-F5344CB8AC3E}">
        <p14:creationId xmlns:p14="http://schemas.microsoft.com/office/powerpoint/2010/main" val="404560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55F8-6392-3E75-D992-BE2DC1582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6979E21A-F3D5-A44A-02A3-650C8AD43F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481263"/>
            <a:ext cx="5673726" cy="572703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Incident Impact can affect Downtime, Recovery, Data Integrity, Economic Costs, Legal Consequences.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Infrastructure and data can be Vulnerable.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Security operation centers are important.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defend something, you need to understand how it works and how to anticipate threats.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Threat Intelligence cycle has 5 steps: Requirements, collection and processing, Analysis, Dissemination, and Feedback.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There are 2 types of Intelligence source: Open( OSINT) or Closed (Proprietary)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706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F63DA-6C46-BE0C-1116-FF851BD1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87E9759B-1E9D-7BB5-610D-1F304CDD7C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481263"/>
            <a:ext cx="5673726" cy="57270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attack frameworks consist of the cyber kill chain, diamond model of </a:t>
            </a:r>
            <a:r>
              <a:rPr lang="en-US" dirty="0" err="1"/>
              <a:t>instrusion</a:t>
            </a:r>
            <a:r>
              <a:rPr lang="en-US" dirty="0"/>
              <a:t> analysis, and </a:t>
            </a:r>
            <a:r>
              <a:rPr lang="en-US" dirty="0" err="1"/>
              <a:t>mitre</a:t>
            </a:r>
            <a:r>
              <a:rPr lang="en-US" dirty="0"/>
              <a:t> </a:t>
            </a:r>
            <a:r>
              <a:rPr lang="en-US" dirty="0" err="1"/>
              <a:t>att&amp;ck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Advancing technology consists of automation and orchestration</a:t>
            </a:r>
          </a:p>
        </p:txBody>
      </p:sp>
    </p:spTree>
    <p:extLst>
      <p:ext uri="{BB962C8B-B14F-4D97-AF65-F5344CB8AC3E}">
        <p14:creationId xmlns:p14="http://schemas.microsoft.com/office/powerpoint/2010/main" val="2863259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A5811-E355-05BC-5EB5-11BFD33CF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659EE1-CDF9-9961-105D-BEF930BBEE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 </a:t>
            </a:r>
            <a:br>
              <a:rPr lang="en-US" dirty="0"/>
            </a:br>
            <a:r>
              <a:rPr lang="en-US" dirty="0"/>
              <a:t>Policy Designs</a:t>
            </a:r>
          </a:p>
        </p:txBody>
      </p:sp>
      <p:pic>
        <p:nvPicPr>
          <p:cNvPr id="11" name="Picture Placeholder 10" descr="A white couch with a vase of flowers on a table">
            <a:extLst>
              <a:ext uri="{FF2B5EF4-FFF2-40B4-BE49-F238E27FC236}">
                <a16:creationId xmlns:a16="http://schemas.microsoft.com/office/drawing/2014/main" id="{A97A392A-60E6-D7D6-BA04-FCF0467D215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" b="29"/>
          <a:stretch/>
        </p:blipFill>
        <p:spPr/>
      </p:pic>
    </p:spTree>
    <p:extLst>
      <p:ext uri="{BB962C8B-B14F-4D97-AF65-F5344CB8AC3E}">
        <p14:creationId xmlns:p14="http://schemas.microsoft.com/office/powerpoint/2010/main" val="2750987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73B91-A3FC-D933-BC60-FC6030F8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5CAA982-8BB9-8E91-9C68-E35351DB6E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481263"/>
            <a:ext cx="5673726" cy="57270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important regulations to consider are Sarbanes-Oxley Act of 2002, Federal Information Security Management Act, Health Insurance Portability and Accountability Act, Gramm-Leach-Bliley Act, GDPR, and PCI DSS.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NIST Framework consists of core, tiers and profiles.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Policy Documents are Important to have.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important policies to  have are data management, privacy polices, incident response, codes of conduct.</a:t>
            </a:r>
          </a:p>
        </p:txBody>
      </p:sp>
    </p:spTree>
    <p:extLst>
      <p:ext uri="{BB962C8B-B14F-4D97-AF65-F5344CB8AC3E}">
        <p14:creationId xmlns:p14="http://schemas.microsoft.com/office/powerpoint/2010/main" val="3187056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8BA5A-722E-4138-9552-E49DE7EE6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D797764-42DE-4B9F-1EDF-A61249C5FC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481263"/>
            <a:ext cx="5673726" cy="57270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Security controls consist of preventative, detective, corrective, and deterrents.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Controls by functions and compensating controls are also important.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Security is never finished since you need to do continual improvement which consist of planning, doing, checking, and acting.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94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C5E2-1F5E-3ED7-E17A-116F7F85D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BFA2E8-F6B2-9065-4F34-8E248FDE4D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3 </a:t>
            </a:r>
            <a:br>
              <a:rPr lang="en-US" dirty="0"/>
            </a:br>
            <a:r>
              <a:rPr lang="en-US" dirty="0"/>
              <a:t>Vulnerability </a:t>
            </a:r>
            <a:r>
              <a:rPr lang="en-US" dirty="0" err="1"/>
              <a:t>Mangement</a:t>
            </a:r>
            <a:endParaRPr lang="en-US" dirty="0"/>
          </a:p>
        </p:txBody>
      </p:sp>
      <p:pic>
        <p:nvPicPr>
          <p:cNvPr id="11" name="Picture Placeholder 10" descr="A white couch with a vase of flowers on a table">
            <a:extLst>
              <a:ext uri="{FF2B5EF4-FFF2-40B4-BE49-F238E27FC236}">
                <a16:creationId xmlns:a16="http://schemas.microsoft.com/office/drawing/2014/main" id="{47ABA861-BCFE-4D2D-5483-86CF34A2DBC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" b="29"/>
          <a:stretch/>
        </p:blipFill>
        <p:spPr/>
      </p:pic>
    </p:spTree>
    <p:extLst>
      <p:ext uri="{BB962C8B-B14F-4D97-AF65-F5344CB8AC3E}">
        <p14:creationId xmlns:p14="http://schemas.microsoft.com/office/powerpoint/2010/main" val="3628081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5E9D-89B3-3C25-0DA0-7F53BC6D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57A6674-E835-7616-A2B6-B52AA8947F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481263"/>
            <a:ext cx="5673726" cy="57270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Through Risk Management Programs you learn how to identify assets and threats, calculate risk, and manage risk.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Vulnerability testing, scan, and penetration testing are all very important to learn.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Penetration testing uses black, white or gray box testing. It is also split into 4 steps planning, discovery, attack, and reporting.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Fisma</a:t>
            </a:r>
            <a:r>
              <a:rPr lang="en-US" dirty="0"/>
              <a:t> has very specific scanning requirements.</a:t>
            </a:r>
          </a:p>
        </p:txBody>
      </p:sp>
    </p:spTree>
    <p:extLst>
      <p:ext uri="{BB962C8B-B14F-4D97-AF65-F5344CB8AC3E}">
        <p14:creationId xmlns:p14="http://schemas.microsoft.com/office/powerpoint/2010/main" val="409696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011F8-361C-F5A3-C3A6-2CDC2C176E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497305"/>
            <a:ext cx="5673726" cy="517959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Another common regulatory standard is the PCI DSS, this also has very specific guidelines.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You need to establish a scanning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When preparing for vulnerability </a:t>
            </a:r>
            <a:r>
              <a:rPr lang="en-US" dirty="0" err="1"/>
              <a:t>scnas</a:t>
            </a:r>
            <a:r>
              <a:rPr lang="en-US" dirty="0"/>
              <a:t>, you need to choose the tools that will give the results you want.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946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8C59-317C-8FDC-6761-19FE66D2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E44945-40ED-6478-CFC0-4ED81156FF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4  </a:t>
            </a:r>
            <a:br>
              <a:rPr lang="en-US" dirty="0"/>
            </a:br>
            <a:r>
              <a:rPr lang="en-US" dirty="0"/>
              <a:t>Recognizing </a:t>
            </a:r>
            <a:r>
              <a:rPr lang="en-US" dirty="0" err="1"/>
              <a:t>Vulnerabilites</a:t>
            </a:r>
            <a:endParaRPr lang="en-US" dirty="0"/>
          </a:p>
        </p:txBody>
      </p:sp>
      <p:pic>
        <p:nvPicPr>
          <p:cNvPr id="11" name="Picture Placeholder 10" descr="A white couch with a vase of flowers on a table">
            <a:extLst>
              <a:ext uri="{FF2B5EF4-FFF2-40B4-BE49-F238E27FC236}">
                <a16:creationId xmlns:a16="http://schemas.microsoft.com/office/drawing/2014/main" id="{B0187163-A8EC-02BE-9A60-C29A220A686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" b="29"/>
          <a:stretch/>
        </p:blipFill>
        <p:spPr/>
      </p:pic>
    </p:spTree>
    <p:extLst>
      <p:ext uri="{BB962C8B-B14F-4D97-AF65-F5344CB8AC3E}">
        <p14:creationId xmlns:p14="http://schemas.microsoft.com/office/powerpoint/2010/main" val="3488874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6308F-EEE2-B6DB-2B52-F6061F8886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304800"/>
            <a:ext cx="5673726" cy="53721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common goal of attackers is the have broken authentication which is unauthorized access to a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exposure is also a sign of attack.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Malware is any software designed to </a:t>
            </a:r>
            <a:r>
              <a:rPr lang="en-US" dirty="0" err="1"/>
              <a:t>to</a:t>
            </a:r>
            <a:r>
              <a:rPr lang="en-US" dirty="0"/>
              <a:t> go against the computer owner’s interest.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examples of these is virus, trojan horse, worm, drive-by, logic bomb,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payloads include spyware, backdoor, beaconing, ransomware, rootkits, and retrovirus.</a:t>
            </a:r>
          </a:p>
        </p:txBody>
      </p:sp>
    </p:spTree>
    <p:extLst>
      <p:ext uri="{BB962C8B-B14F-4D97-AF65-F5344CB8AC3E}">
        <p14:creationId xmlns:p14="http://schemas.microsoft.com/office/powerpoint/2010/main" val="1558298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D9D9F-94FD-B105-1565-345B3AAE11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208547"/>
            <a:ext cx="5673726" cy="546835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Phishing is a common example.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common host vulnerabilities are weak passwords, lack of active and updated software, physical damage, unlocked or unattended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Embedded computers are very popular for a number of reasons.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application exploits can be classified as header manipulation, memory manipulation, injection, directory traversal, and arbitrary code execution.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577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23591-CE02-85B1-1B29-7B37627BC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4D6114-4F5F-F83B-25BA-388D5C246F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5  </a:t>
            </a:r>
            <a:br>
              <a:rPr lang="en-US" dirty="0"/>
            </a:br>
            <a:r>
              <a:rPr lang="en-US" dirty="0"/>
              <a:t>Network Threats</a:t>
            </a:r>
          </a:p>
        </p:txBody>
      </p:sp>
      <p:pic>
        <p:nvPicPr>
          <p:cNvPr id="11" name="Picture Placeholder 10" descr="A white couch with a vase of flowers on a table">
            <a:extLst>
              <a:ext uri="{FF2B5EF4-FFF2-40B4-BE49-F238E27FC236}">
                <a16:creationId xmlns:a16="http://schemas.microsoft.com/office/drawing/2014/main" id="{2B40242D-959D-1E9B-7F0A-BFBE60D4D94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" b="29"/>
          <a:stretch/>
        </p:blipFill>
        <p:spPr/>
      </p:pic>
    </p:spTree>
    <p:extLst>
      <p:ext uri="{BB962C8B-B14F-4D97-AF65-F5344CB8AC3E}">
        <p14:creationId xmlns:p14="http://schemas.microsoft.com/office/powerpoint/2010/main" val="97110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8D9C0-E835-F8AA-27DC-237D30495F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320842"/>
            <a:ext cx="5673726" cy="535605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common network attacks are probing, spoofing, redirection, denial of service, eavesdropping, cracking, man in the middle, or session hijacking.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Network probes are reconnaissance techniques.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password cracking techniques include brute force, dictionary attack, hybrid attack, password spraying, credential stuffing.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Cryptographic keys are </a:t>
            </a:r>
            <a:r>
              <a:rPr lang="en-US" dirty="0" err="1"/>
              <a:t>veryb</a:t>
            </a:r>
            <a:r>
              <a:rPr lang="en-US" dirty="0"/>
              <a:t> common for top secret information going from 112- 256 bit keys.</a:t>
            </a:r>
          </a:p>
        </p:txBody>
      </p:sp>
    </p:spTree>
    <p:extLst>
      <p:ext uri="{BB962C8B-B14F-4D97-AF65-F5344CB8AC3E}">
        <p14:creationId xmlns:p14="http://schemas.microsoft.com/office/powerpoint/2010/main" val="793338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E6266-2624-CC7B-4C8F-4CFFD6B527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481263"/>
            <a:ext cx="5673726" cy="519563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Always use cryptographic modules instead of coding cryptography in-house.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5 elements that NIST defines in a cloud service are On-demand self service, Broad network access, resource pooling, rapid elasticity, and measured service.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NIST recognizes 4 cloud deployment models: public, private, community, and hybrid.</a:t>
            </a:r>
          </a:p>
        </p:txBody>
      </p:sp>
    </p:spTree>
    <p:extLst>
      <p:ext uri="{BB962C8B-B14F-4D97-AF65-F5344CB8AC3E}">
        <p14:creationId xmlns:p14="http://schemas.microsoft.com/office/powerpoint/2010/main" val="2593632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1B1CC-05F9-418A-7E8A-859AD955B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69F31E-2E36-DF74-1D88-DC5D65566C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6  </a:t>
            </a:r>
            <a:br>
              <a:rPr lang="en-US" dirty="0"/>
            </a:br>
            <a:r>
              <a:rPr lang="en-US" dirty="0"/>
              <a:t>Reconnaissance</a:t>
            </a:r>
          </a:p>
        </p:txBody>
      </p:sp>
      <p:pic>
        <p:nvPicPr>
          <p:cNvPr id="11" name="Picture Placeholder 10" descr="A white couch with a vase of flowers on a table">
            <a:extLst>
              <a:ext uri="{FF2B5EF4-FFF2-40B4-BE49-F238E27FC236}">
                <a16:creationId xmlns:a16="http://schemas.microsoft.com/office/drawing/2014/main" id="{25932B87-4C2E-F029-A072-87CF849C2B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" b="29"/>
          <a:stretch/>
        </p:blipFill>
        <p:spPr/>
      </p:pic>
    </p:spTree>
    <p:extLst>
      <p:ext uri="{BB962C8B-B14F-4D97-AF65-F5344CB8AC3E}">
        <p14:creationId xmlns:p14="http://schemas.microsoft.com/office/powerpoint/2010/main" val="38277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1D018-8514-BD92-7921-EBFD7BF5B6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417095"/>
            <a:ext cx="5673726" cy="525980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Foot printing techniques include passive, semi-passive or active reconnaissance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infrastructure scanners include </a:t>
            </a:r>
            <a:r>
              <a:rPr lang="en-US" dirty="0" err="1"/>
              <a:t>nessus</a:t>
            </a:r>
            <a:r>
              <a:rPr lang="en-US" dirty="0"/>
              <a:t>, </a:t>
            </a:r>
            <a:r>
              <a:rPr lang="en-US" dirty="0" err="1"/>
              <a:t>openvas</a:t>
            </a:r>
            <a:r>
              <a:rPr lang="en-US" dirty="0"/>
              <a:t>, </a:t>
            </a:r>
            <a:r>
              <a:rPr lang="en-US" dirty="0" err="1"/>
              <a:t>nexpose</a:t>
            </a:r>
            <a:r>
              <a:rPr lang="en-US" dirty="0"/>
              <a:t>, and </a:t>
            </a:r>
            <a:r>
              <a:rPr lang="en-US" dirty="0" err="1"/>
              <a:t>qualys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Web application scanners consist of </a:t>
            </a:r>
            <a:r>
              <a:rPr lang="en-US" dirty="0" err="1"/>
              <a:t>nikto</a:t>
            </a:r>
            <a:r>
              <a:rPr lang="en-US" dirty="0"/>
              <a:t>, </a:t>
            </a:r>
            <a:r>
              <a:rPr lang="en-US" dirty="0" err="1"/>
              <a:t>browsercheck</a:t>
            </a:r>
            <a:r>
              <a:rPr lang="en-US" dirty="0"/>
              <a:t>, ZAP, and Arancini.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Cloud assessment tools are </a:t>
            </a:r>
            <a:r>
              <a:rPr lang="en-US" dirty="0" err="1"/>
              <a:t>coutsuite</a:t>
            </a:r>
            <a:r>
              <a:rPr lang="en-US" dirty="0"/>
              <a:t>, prowler, pacu.</a:t>
            </a:r>
          </a:p>
        </p:txBody>
      </p:sp>
    </p:spTree>
    <p:extLst>
      <p:ext uri="{BB962C8B-B14F-4D97-AF65-F5344CB8AC3E}">
        <p14:creationId xmlns:p14="http://schemas.microsoft.com/office/powerpoint/2010/main" val="4077116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9C5EB-54FD-BF8A-76C4-4DCFACA212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417095"/>
            <a:ext cx="5673726" cy="525980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Scan scoring system types are base, temporal, and environmental.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metrics of this consist of AV, AC, PR, UI, S, C, I, A, E, RL, and RC.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False Positives are very common for vulnerability scans, Telling the difference isn’t always easy.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Gathering additional vulnerability data is always a great idea.</a:t>
            </a:r>
          </a:p>
        </p:txBody>
      </p:sp>
    </p:spTree>
    <p:extLst>
      <p:ext uri="{BB962C8B-B14F-4D97-AF65-F5344CB8AC3E}">
        <p14:creationId xmlns:p14="http://schemas.microsoft.com/office/powerpoint/2010/main" val="868121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F55E2-4658-21D8-0605-3E8E2FE87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2735D6-DE6F-1A06-513A-33391D3FC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 </a:t>
            </a:r>
            <a:br>
              <a:rPr lang="en-US" dirty="0"/>
            </a:br>
            <a:r>
              <a:rPr lang="en-US" dirty="0"/>
              <a:t>Network Security Systems</a:t>
            </a:r>
          </a:p>
        </p:txBody>
      </p:sp>
      <p:pic>
        <p:nvPicPr>
          <p:cNvPr id="11" name="Picture Placeholder 10" descr="A white couch with a vase of flowers on a table">
            <a:extLst>
              <a:ext uri="{FF2B5EF4-FFF2-40B4-BE49-F238E27FC236}">
                <a16:creationId xmlns:a16="http://schemas.microsoft.com/office/drawing/2014/main" id="{0FC57C9F-6BDD-06BF-0FD0-90D3C0719A0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" b="29"/>
          <a:stretch/>
        </p:blipFill>
        <p:spPr/>
      </p:pic>
    </p:spTree>
    <p:extLst>
      <p:ext uri="{BB962C8B-B14F-4D97-AF65-F5344CB8AC3E}">
        <p14:creationId xmlns:p14="http://schemas.microsoft.com/office/powerpoint/2010/main" val="3664695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445BB-EE75-1ED3-D607-0342584C8C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433137"/>
            <a:ext cx="5673726" cy="524376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Packet Filtering is commonly used with routers.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ACL includes implicit deny or allow.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Application layer firewalls use deep packet inspection.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Firewall placement is very important.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DMZ adds a third wall to network security. These can include Bastion Hosts, Three-homed firewall, or dual-firewall.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Intrusion detection and prevention includes signature based, stateful-protocol analysis, and anomaly based.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65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D5276-B376-DAEC-67AD-43BD448A9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385011"/>
            <a:ext cx="5673726" cy="529188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Content filters are important to use in certain situations.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Netstat is a universal command that is included in nearly all workstations and server operating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Host based monitoring utilities goes deeper that Netstat.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There are many log systems that you can use to find what you need.</a:t>
            </a:r>
          </a:p>
        </p:txBody>
      </p:sp>
    </p:spTree>
    <p:extLst>
      <p:ext uri="{BB962C8B-B14F-4D97-AF65-F5344CB8AC3E}">
        <p14:creationId xmlns:p14="http://schemas.microsoft.com/office/powerpoint/2010/main" val="1280792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3290-BB7B-6A89-C15E-054D7E2A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EDA7D4-8295-EC61-A113-2BC596EBC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8 </a:t>
            </a:r>
            <a:br>
              <a:rPr lang="en-US" dirty="0"/>
            </a:br>
            <a:r>
              <a:rPr lang="en-US" dirty="0"/>
              <a:t>Network Defense Techniques</a:t>
            </a:r>
          </a:p>
        </p:txBody>
      </p:sp>
      <p:pic>
        <p:nvPicPr>
          <p:cNvPr id="11" name="Picture Placeholder 10" descr="A white couch with a vase of flowers on a table">
            <a:extLst>
              <a:ext uri="{FF2B5EF4-FFF2-40B4-BE49-F238E27FC236}">
                <a16:creationId xmlns:a16="http://schemas.microsoft.com/office/drawing/2014/main" id="{56129A68-941D-3EF5-366A-9374DE88BE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" b="29"/>
          <a:stretch/>
        </p:blipFill>
        <p:spPr/>
      </p:pic>
    </p:spTree>
    <p:extLst>
      <p:ext uri="{BB962C8B-B14F-4D97-AF65-F5344CB8AC3E}">
        <p14:creationId xmlns:p14="http://schemas.microsoft.com/office/powerpoint/2010/main" val="2752758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AE563-97D1-681F-2135-71A29460F2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545432"/>
            <a:ext cx="5673726" cy="513146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Analysis and Analytics are 2 separately distinct concepts.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Real time analysis isn’t a complete solution. ( Point-in-Time analysis)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There are 6 of these types, traffic, flow, protocol, packet, signature, and wireless.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All data analysis is limited. By either the amount of raw data you have and how you interpret it and your incoming data 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Query languages are especially useful in reading log queries since the network and system logs gather too quickly.</a:t>
            </a:r>
          </a:p>
        </p:txBody>
      </p:sp>
    </p:spTree>
    <p:extLst>
      <p:ext uri="{BB962C8B-B14F-4D97-AF65-F5344CB8AC3E}">
        <p14:creationId xmlns:p14="http://schemas.microsoft.com/office/powerpoint/2010/main" val="2196803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40959-9C5E-EB8C-4B0D-9BA70F24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87D56-54EE-2C5E-E23E-3CC12C816A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737937"/>
            <a:ext cx="5673726" cy="49389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E-mail analysis is incredibly useful.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SIEM has a very vast number of rules, uses, elements and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threat hunting process consist of purpose, data collection, hypothesis, planning, execution. Action, feedback.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Threat hunting is most effective when you can profile threat actors and their activities.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8049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968F1-B0D7-D3F2-961A-DCCC92E6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A4EA33-8B04-97B7-6521-D56C175268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9 </a:t>
            </a:r>
            <a:br>
              <a:rPr lang="en-US" dirty="0"/>
            </a:br>
            <a:r>
              <a:rPr lang="en-US" dirty="0"/>
              <a:t>Secure Infrastructure </a:t>
            </a:r>
            <a:r>
              <a:rPr lang="en-US" dirty="0" err="1"/>
              <a:t>Mangement</a:t>
            </a:r>
            <a:endParaRPr lang="en-US" dirty="0"/>
          </a:p>
        </p:txBody>
      </p:sp>
      <p:pic>
        <p:nvPicPr>
          <p:cNvPr id="11" name="Picture Placeholder 10" descr="A white couch with a vase of flowers on a table">
            <a:extLst>
              <a:ext uri="{FF2B5EF4-FFF2-40B4-BE49-F238E27FC236}">
                <a16:creationId xmlns:a16="http://schemas.microsoft.com/office/drawing/2014/main" id="{4C035995-5EEE-D5B2-77E1-EC7AD99051F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" b="29"/>
          <a:stretch/>
        </p:blipFill>
        <p:spPr/>
      </p:pic>
    </p:spTree>
    <p:extLst>
      <p:ext uri="{BB962C8B-B14F-4D97-AF65-F5344CB8AC3E}">
        <p14:creationId xmlns:p14="http://schemas.microsoft.com/office/powerpoint/2010/main" val="3249246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72178-DEC2-D681-BFCD-5BB8AFBA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8DB79-4583-E397-C055-638F3C9D88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625642"/>
            <a:ext cx="5673726" cy="505125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data life cycle consists of creation, use, retention, wiping or acquisition, storage, archival, disposal depending on the context.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Ownership should be very clear.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can be classified at top secret, secret, confidential, sensitive but unclassified, or unclassified.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Privacy and Security is important in Data Protection.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Digital Rights Management is most often used in copyrights.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8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B10AC-91AA-0C8B-FD99-765DA72C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6CF18-A031-F9F5-A644-881F548ABC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529389"/>
            <a:ext cx="5673726" cy="514751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Secure networks need continuous testing and monitoring.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VLAN has a several rules that can impact network security.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your network is isolated, you can use a Jump Box.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Most cryptographic systems are extremely complex.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account life cycle includes Approval, Provisions, Maintenance, and Deprovision.</a:t>
            </a:r>
          </a:p>
        </p:txBody>
      </p:sp>
    </p:spTree>
    <p:extLst>
      <p:ext uri="{BB962C8B-B14F-4D97-AF65-F5344CB8AC3E}">
        <p14:creationId xmlns:p14="http://schemas.microsoft.com/office/powerpoint/2010/main" val="1001168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E951C-82C1-663D-1784-E6C6F26D3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CDBD5B-9126-9E91-B2CB-F668086801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10 </a:t>
            </a:r>
            <a:br>
              <a:rPr lang="en-US" dirty="0"/>
            </a:br>
            <a:r>
              <a:rPr lang="en-US" dirty="0"/>
              <a:t>Secure System Design</a:t>
            </a:r>
          </a:p>
        </p:txBody>
      </p:sp>
      <p:pic>
        <p:nvPicPr>
          <p:cNvPr id="11" name="Picture Placeholder 10" descr="A white couch with a vase of flowers on a table">
            <a:extLst>
              <a:ext uri="{FF2B5EF4-FFF2-40B4-BE49-F238E27FC236}">
                <a16:creationId xmlns:a16="http://schemas.microsoft.com/office/drawing/2014/main" id="{5CADA946-7F78-9894-7176-0AF5AD0816D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" b="29"/>
          <a:stretch/>
        </p:blipFill>
        <p:spPr/>
      </p:pic>
    </p:spTree>
    <p:extLst>
      <p:ext uri="{BB962C8B-B14F-4D97-AF65-F5344CB8AC3E}">
        <p14:creationId xmlns:p14="http://schemas.microsoft.com/office/powerpoint/2010/main" val="7891589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DBD4D-468D-FA50-84CD-BBE3AE73C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EEF52-61EF-9600-56FE-BDBA984315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673768"/>
            <a:ext cx="5673726" cy="5003132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Trust and assurance is important is network security. An appropriate level of paranoia is acceptable when dealing with this.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hardware assurance methods include reverse engineering, supply chain security, physical security, tamper-proofing, remote attestation, secure processing and encryption.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System hardening includes secure configuration, application control, patching, account security, and security software.</a:t>
            </a:r>
          </a:p>
        </p:txBody>
      </p:sp>
    </p:spTree>
    <p:extLst>
      <p:ext uri="{BB962C8B-B14F-4D97-AF65-F5344CB8AC3E}">
        <p14:creationId xmlns:p14="http://schemas.microsoft.com/office/powerpoint/2010/main" val="1137888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20302-5174-0485-CAB8-9DA8455C8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16680-3F9B-2553-72CF-355309F440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753979"/>
            <a:ext cx="5673726" cy="492292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Most physical servers have been replaced with virtual systems in the last decade.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Software assurance is incredibly important. You need to make sure your software works correctly and accurately.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software development life cycle includes initiation, implementation/assessment, operations and maintenance, and disposal.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DevSecOps</a:t>
            </a:r>
            <a:r>
              <a:rPr lang="en-US" dirty="0"/>
              <a:t> is an extremely useful skill to have.</a:t>
            </a:r>
          </a:p>
        </p:txBody>
      </p:sp>
    </p:spTree>
    <p:extLst>
      <p:ext uri="{BB962C8B-B14F-4D97-AF65-F5344CB8AC3E}">
        <p14:creationId xmlns:p14="http://schemas.microsoft.com/office/powerpoint/2010/main" val="4144152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65017-FEF9-A515-8519-9913C3D6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983D83-F03A-0918-6C0E-6ECF953D89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11  </a:t>
            </a:r>
            <a:br>
              <a:rPr lang="en-US" dirty="0"/>
            </a:br>
            <a:r>
              <a:rPr lang="en-US" dirty="0"/>
              <a:t>Incident Response</a:t>
            </a:r>
          </a:p>
        </p:txBody>
      </p:sp>
      <p:pic>
        <p:nvPicPr>
          <p:cNvPr id="11" name="Picture Placeholder 10" descr="A white couch with a vase of flowers on a table">
            <a:extLst>
              <a:ext uri="{FF2B5EF4-FFF2-40B4-BE49-F238E27FC236}">
                <a16:creationId xmlns:a16="http://schemas.microsoft.com/office/drawing/2014/main" id="{96315FC5-2B5C-D7AB-4047-785745F8016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" b="29"/>
          <a:stretch/>
        </p:blipFill>
        <p:spPr/>
      </p:pic>
    </p:spTree>
    <p:extLst>
      <p:ext uri="{BB962C8B-B14F-4D97-AF65-F5344CB8AC3E}">
        <p14:creationId xmlns:p14="http://schemas.microsoft.com/office/powerpoint/2010/main" val="3244701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433CE-224B-00F7-1C07-B567D0DC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3A3A2-E39E-300E-D474-B923B7EB7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737937"/>
            <a:ext cx="5673726" cy="493896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Security is an ongoing process that requires incident response to be updated frequently.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Response teams should be able to respond quickly and effectively since time is critical.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Tabletop exercises is a useful investment to make when dealing with your response team.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You should have a plan for crisis communication and incident notifications.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incident response process involves preparation, identification, containment, investigation, eradication, recovery, and follow-up.</a:t>
            </a:r>
          </a:p>
        </p:txBody>
      </p:sp>
    </p:spTree>
    <p:extLst>
      <p:ext uri="{BB962C8B-B14F-4D97-AF65-F5344CB8AC3E}">
        <p14:creationId xmlns:p14="http://schemas.microsoft.com/office/powerpoint/2010/main" val="799609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F4533-FEF1-1C68-25C8-ABABFDE9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656B4-D2A1-388B-611A-F790A75F49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275" y="673768"/>
            <a:ext cx="5673726" cy="500313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You need to rely on multiple sources when identifying incidents.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IoC and </a:t>
            </a:r>
            <a:r>
              <a:rPr lang="en-US" dirty="0" err="1"/>
              <a:t>IoA</a:t>
            </a:r>
            <a:r>
              <a:rPr lang="en-US" dirty="0"/>
              <a:t> are both incident indicators.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Know when to recognize network based incidents and host-base incidents.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which containment techniques work well with which incidents.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Evidence can be classified in a testimony, real evidence, circumstantial , demonstrative, and digital evidence.</a:t>
            </a:r>
          </a:p>
        </p:txBody>
      </p:sp>
    </p:spTree>
    <p:extLst>
      <p:ext uri="{BB962C8B-B14F-4D97-AF65-F5344CB8AC3E}">
        <p14:creationId xmlns:p14="http://schemas.microsoft.com/office/powerpoint/2010/main" val="23947822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C9BCA-8F83-643C-A34B-419F1A69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20922C-A950-C360-9CAB-7CB365EF32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Wilcox, A. (2020). CompTIA Cybersecurity Analyst+ CS0-002Student Edition. 30 Bird Media.</a:t>
            </a:r>
            <a:br>
              <a:rPr lang="en-US" dirty="0"/>
            </a:br>
            <a:endParaRPr lang="en-US" dirty="0"/>
          </a:p>
        </p:txBody>
      </p:sp>
      <p:pic>
        <p:nvPicPr>
          <p:cNvPr id="11" name="Picture Placeholder 10" descr="A white couch with a vase of flowers on a table">
            <a:extLst>
              <a:ext uri="{FF2B5EF4-FFF2-40B4-BE49-F238E27FC236}">
                <a16:creationId xmlns:a16="http://schemas.microsoft.com/office/drawing/2014/main" id="{A8BA683F-4993-54C8-08C5-F6F8E179FB9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" b="29"/>
          <a:stretch/>
        </p:blipFill>
        <p:spPr/>
      </p:pic>
    </p:spTree>
    <p:extLst>
      <p:ext uri="{BB962C8B-B14F-4D97-AF65-F5344CB8AC3E}">
        <p14:creationId xmlns:p14="http://schemas.microsoft.com/office/powerpoint/2010/main" val="4238017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1F15-46F5-4A2B-AF38-34F3B802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A4C54-B3B2-4B02-A340-C72E57FEE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45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665E41-66EB-401D-940D-8E7024721B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B37DAF-AFAF-4561-A80B-C76198EBD3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29436BC-77AE-4AEE-A282-4E162A1CA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{6BB6BA4C-3A4B-4BCA-B17A-8A2B4273E23A}tf67338807_win32</Template>
  <TotalTime>365</TotalTime>
  <Words>1655</Words>
  <Application>Microsoft Office PowerPoint</Application>
  <PresentationFormat>Widescreen</PresentationFormat>
  <Paragraphs>141</Paragraphs>
  <Slides>38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Dante</vt:lpstr>
      <vt:lpstr>Dante (Headings)2</vt:lpstr>
      <vt:lpstr>Wingdings 2</vt:lpstr>
      <vt:lpstr>OffsetVTI</vt:lpstr>
      <vt:lpstr>Final Presentation Slides By: Rebekah Cheyenne Conner 04-27-2025 Course: ITI-3690-02  Intrusion Detection/ Crisis Mgt Dr. Pete Hsieh</vt:lpstr>
      <vt:lpstr>Agenda</vt:lpstr>
      <vt:lpstr>Chapter 1  Understanding Threats</vt:lpstr>
      <vt:lpstr>PowerPoint Presentation</vt:lpstr>
      <vt:lpstr>PowerPoint Presentation</vt:lpstr>
      <vt:lpstr>PowerPoint Presentation</vt:lpstr>
      <vt:lpstr>Chapter 2  Policy Designs</vt:lpstr>
      <vt:lpstr>PowerPoint Presentation</vt:lpstr>
      <vt:lpstr>PowerPoint Presentation</vt:lpstr>
      <vt:lpstr>Chapter 3  Vulnerability Mangement</vt:lpstr>
      <vt:lpstr>PowerPoint Presentation</vt:lpstr>
      <vt:lpstr>PowerPoint Presentation</vt:lpstr>
      <vt:lpstr>Chapter 4   Recognizing Vulnerabilites</vt:lpstr>
      <vt:lpstr>PowerPoint Presentation</vt:lpstr>
      <vt:lpstr>PowerPoint Presentation</vt:lpstr>
      <vt:lpstr>Chapter 5   Network Threats</vt:lpstr>
      <vt:lpstr>PowerPoint Presentation</vt:lpstr>
      <vt:lpstr>PowerPoint Presentation</vt:lpstr>
      <vt:lpstr>Chapter 6   Reconnaissance</vt:lpstr>
      <vt:lpstr>PowerPoint Presentation</vt:lpstr>
      <vt:lpstr>PowerPoint Presentation</vt:lpstr>
      <vt:lpstr>Chapter 7  Network Security Systems</vt:lpstr>
      <vt:lpstr>PowerPoint Presentation</vt:lpstr>
      <vt:lpstr>PowerPoint Presentation</vt:lpstr>
      <vt:lpstr>Chapter 8  Network Defense Techniques</vt:lpstr>
      <vt:lpstr>PowerPoint Presentation</vt:lpstr>
      <vt:lpstr>PowerPoint Presentation</vt:lpstr>
      <vt:lpstr>Chapter 9  Secure Infrastructure Mangement</vt:lpstr>
      <vt:lpstr>PowerPoint Presentation</vt:lpstr>
      <vt:lpstr>PowerPoint Presentation</vt:lpstr>
      <vt:lpstr>Chapter 10  Secure System Design</vt:lpstr>
      <vt:lpstr>PowerPoint Presentation</vt:lpstr>
      <vt:lpstr>PowerPoint Presentation</vt:lpstr>
      <vt:lpstr>Chapter 11   Incident Response</vt:lpstr>
      <vt:lpstr>PowerPoint Presentation</vt:lpstr>
      <vt:lpstr>PowerPoint Presentation</vt:lpstr>
      <vt:lpstr>References  Wilcox, A. (2020). CompTIA Cybersecurity Analyst+ CS0-002Student Edition. 30 Bird Media.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cheyenne conner</dc:creator>
  <cp:lastModifiedBy>cheyenne conner</cp:lastModifiedBy>
  <cp:revision>3</cp:revision>
  <dcterms:created xsi:type="dcterms:W3CDTF">2025-04-15T16:01:15Z</dcterms:created>
  <dcterms:modified xsi:type="dcterms:W3CDTF">2025-04-28T02:08:14Z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