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256" r:id="rId5"/>
    <p:sldId id="257" r:id="rId6"/>
    <p:sldId id="260" r:id="rId7"/>
    <p:sldId id="265" r:id="rId8"/>
    <p:sldId id="261" r:id="rId9"/>
    <p:sldId id="258" r:id="rId10"/>
    <p:sldId id="263" r:id="rId11"/>
    <p:sldId id="259" r:id="rId12"/>
    <p:sldId id="262"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9EEA3A-2423-FBA3-D90E-F73D4EA83CEE}" v="584" dt="2025-01-15T18:15:10.314"/>
    <p1510:client id="{4483E789-2BC3-6C33-AC95-5EB82E214631}" v="1897" dt="2025-01-15T18:40:47.282"/>
    <p1510:client id="{4C9C865B-5938-3663-1BED-FA811ED5B3FA}" v="17" dt="2025-01-15T17:33:12.834"/>
    <p1510:client id="{68F84FE8-0CCC-8F19-4D78-86671C83E7A9}" v="6" dt="2025-01-15T18:38:34.608"/>
    <p1510:client id="{8409B59B-91B8-FA26-625C-16E5EA9F5FC9}" v="83" dt="2025-01-15T18:07:49.704"/>
    <p1510:client id="{8580C890-5E87-60A2-D893-F56B4C4ED56D}" v="421" dt="2025-01-15T18:24:19.797"/>
    <p1510:client id="{C3B652B6-86EF-894C-9D8A-7E7604D9B034}" v="18" dt="2025-01-15T17:53:22.964"/>
    <p1510:client id="{F77C2C55-BEA9-62A1-A3D6-1F97F8B98F49}" v="1226" dt="2025-01-15T06:24:31.9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7AA97052-1F10-47E7-8A1C-0DB1180E95C8}"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6B0E37EC-BF50-4515-B938-D6849CE28DD0}">
      <dgm:prSet/>
      <dgm:spPr/>
      <dgm:t>
        <a:bodyPr/>
        <a:lstStyle/>
        <a:p>
          <a:pPr rtl="0">
            <a:lnSpc>
              <a:spcPct val="100000"/>
            </a:lnSpc>
            <a:defRPr cap="all"/>
          </a:pPr>
          <a:r>
            <a:rPr lang="en-US"/>
            <a:t>CarMax started in the 1990’s.</a:t>
          </a:r>
          <a:r>
            <a:rPr lang="en-US">
              <a:latin typeface="Aptos Display" panose="02110004020202020204"/>
            </a:rPr>
            <a:t>                            (Features and Price)</a:t>
          </a:r>
          <a:endParaRPr lang="en-US"/>
        </a:p>
      </dgm:t>
    </dgm:pt>
    <dgm:pt modelId="{2E488303-42DC-4692-B960-DC8BF5F49F52}" type="parTrans" cxnId="{B0BB646F-6D88-4888-A148-2E63FA3682CE}">
      <dgm:prSet/>
      <dgm:spPr/>
      <dgm:t>
        <a:bodyPr/>
        <a:lstStyle/>
        <a:p>
          <a:endParaRPr lang="en-US"/>
        </a:p>
      </dgm:t>
    </dgm:pt>
    <dgm:pt modelId="{61382709-8AC2-4086-94A8-100E563A9D7A}" type="sibTrans" cxnId="{B0BB646F-6D88-4888-A148-2E63FA3682CE}">
      <dgm:prSet/>
      <dgm:spPr/>
      <dgm:t>
        <a:bodyPr/>
        <a:lstStyle/>
        <a:p>
          <a:endParaRPr lang="en-US"/>
        </a:p>
      </dgm:t>
    </dgm:pt>
    <dgm:pt modelId="{6B605FA8-5C0E-4D84-9C06-C23FDC91D949}">
      <dgm:prSet/>
      <dgm:spPr/>
      <dgm:t>
        <a:bodyPr/>
        <a:lstStyle/>
        <a:p>
          <a:pPr rtl="0">
            <a:lnSpc>
              <a:spcPct val="100000"/>
            </a:lnSpc>
            <a:defRPr cap="all"/>
          </a:pPr>
          <a:r>
            <a:rPr lang="en-US"/>
            <a:t>It is the largest used car retailer in the US.</a:t>
          </a:r>
          <a:r>
            <a:rPr lang="en-US">
              <a:latin typeface="Aptos Display" panose="02110004020202020204"/>
            </a:rPr>
            <a:t>            (173 Stores and More)</a:t>
          </a:r>
          <a:endParaRPr lang="en-US"/>
        </a:p>
      </dgm:t>
    </dgm:pt>
    <dgm:pt modelId="{4AC586DF-C91D-4369-95AE-A92F17C965B0}" type="parTrans" cxnId="{CDC43525-5EF4-41C8-A502-630CDBB6964C}">
      <dgm:prSet/>
      <dgm:spPr/>
      <dgm:t>
        <a:bodyPr/>
        <a:lstStyle/>
        <a:p>
          <a:endParaRPr lang="en-US"/>
        </a:p>
      </dgm:t>
    </dgm:pt>
    <dgm:pt modelId="{1C2313C4-2C11-4048-A65C-BB4B55F555FA}" type="sibTrans" cxnId="{CDC43525-5EF4-41C8-A502-630CDBB6964C}">
      <dgm:prSet/>
      <dgm:spPr/>
      <dgm:t>
        <a:bodyPr/>
        <a:lstStyle/>
        <a:p>
          <a:endParaRPr lang="en-US"/>
        </a:p>
      </dgm:t>
    </dgm:pt>
    <dgm:pt modelId="{2DA5EEC1-2014-4F5D-9293-00E9281D7BA0}">
      <dgm:prSet/>
      <dgm:spPr/>
      <dgm:t>
        <a:bodyPr/>
        <a:lstStyle/>
        <a:p>
          <a:pPr rtl="0">
            <a:lnSpc>
              <a:spcPct val="100000"/>
            </a:lnSpc>
            <a:defRPr cap="all"/>
          </a:pPr>
          <a:r>
            <a:rPr lang="en-US"/>
            <a:t>Built a website custom for consumers.</a:t>
          </a:r>
          <a:r>
            <a:rPr lang="en-US">
              <a:latin typeface="Aptos Display" panose="02110004020202020204"/>
            </a:rPr>
            <a:t>                               (Like Amazon)</a:t>
          </a:r>
          <a:endParaRPr lang="en-US"/>
        </a:p>
      </dgm:t>
    </dgm:pt>
    <dgm:pt modelId="{6F6942E2-889A-46E9-BAA4-ABDE510EDA56}" type="parTrans" cxnId="{6558BD64-206D-492C-A81A-FCFE745E4988}">
      <dgm:prSet/>
      <dgm:spPr/>
      <dgm:t>
        <a:bodyPr/>
        <a:lstStyle/>
        <a:p>
          <a:endParaRPr lang="en-US"/>
        </a:p>
      </dgm:t>
    </dgm:pt>
    <dgm:pt modelId="{39E3C82C-5D0C-4955-AAB4-FB54D393A587}" type="sibTrans" cxnId="{6558BD64-206D-492C-A81A-FCFE745E4988}">
      <dgm:prSet/>
      <dgm:spPr/>
      <dgm:t>
        <a:bodyPr/>
        <a:lstStyle/>
        <a:p>
          <a:endParaRPr lang="en-US"/>
        </a:p>
      </dgm:t>
    </dgm:pt>
    <dgm:pt modelId="{81DF5BB6-9161-4CD0-9482-86E5626BC27B}">
      <dgm:prSet/>
      <dgm:spPr/>
      <dgm:t>
        <a:bodyPr/>
        <a:lstStyle/>
        <a:p>
          <a:pPr rtl="0">
            <a:lnSpc>
              <a:spcPct val="100000"/>
            </a:lnSpc>
            <a:defRPr cap="all"/>
          </a:pPr>
          <a:r>
            <a:rPr lang="en-US"/>
            <a:t>Centralized Vehicle inventory system.</a:t>
          </a:r>
          <a:r>
            <a:rPr lang="en-US">
              <a:latin typeface="Aptos Display" panose="02110004020202020204"/>
            </a:rPr>
            <a:t>        (Over 50,000 Certified Vehicles and Transfer 30%)</a:t>
          </a:r>
          <a:endParaRPr lang="en-US"/>
        </a:p>
      </dgm:t>
    </dgm:pt>
    <dgm:pt modelId="{A44192D8-BEEA-4FE1-970F-EF5B8FAB5394}" type="parTrans" cxnId="{D864BDAA-77A2-44A7-8FBC-34FB88AA0332}">
      <dgm:prSet/>
      <dgm:spPr/>
      <dgm:t>
        <a:bodyPr/>
        <a:lstStyle/>
        <a:p>
          <a:endParaRPr lang="en-US"/>
        </a:p>
      </dgm:t>
    </dgm:pt>
    <dgm:pt modelId="{02A64B51-33DC-477E-97F7-B64FA0EA64B2}" type="sibTrans" cxnId="{D864BDAA-77A2-44A7-8FBC-34FB88AA0332}">
      <dgm:prSet/>
      <dgm:spPr/>
      <dgm:t>
        <a:bodyPr/>
        <a:lstStyle/>
        <a:p>
          <a:endParaRPr lang="en-US"/>
        </a:p>
      </dgm:t>
    </dgm:pt>
    <dgm:pt modelId="{6148C958-B4F7-46B7-BF3D-523020A7808D}">
      <dgm:prSet/>
      <dgm:spPr/>
      <dgm:t>
        <a:bodyPr/>
        <a:lstStyle/>
        <a:p>
          <a:pPr rtl="0">
            <a:lnSpc>
              <a:spcPct val="100000"/>
            </a:lnSpc>
            <a:defRPr cap="all"/>
          </a:pPr>
          <a:r>
            <a:rPr lang="en-US"/>
            <a:t>Prequalify customer loans prior to store visit.</a:t>
          </a:r>
          <a:r>
            <a:rPr lang="en-US">
              <a:latin typeface="Aptos Display" panose="02110004020202020204"/>
            </a:rPr>
            <a:t>                                    (Sales Process, Well Received)</a:t>
          </a:r>
          <a:endParaRPr lang="en-US"/>
        </a:p>
      </dgm:t>
    </dgm:pt>
    <dgm:pt modelId="{AE7160EF-0D5E-4408-ACA8-98E767697101}" type="parTrans" cxnId="{6DA4571F-3535-42C6-A640-63268B6D9B63}">
      <dgm:prSet/>
      <dgm:spPr/>
      <dgm:t>
        <a:bodyPr/>
        <a:lstStyle/>
        <a:p>
          <a:endParaRPr lang="en-US"/>
        </a:p>
      </dgm:t>
    </dgm:pt>
    <dgm:pt modelId="{5F4422B4-10FA-4E90-92FA-05B80B216F48}" type="sibTrans" cxnId="{6DA4571F-3535-42C6-A640-63268B6D9B63}">
      <dgm:prSet/>
      <dgm:spPr/>
      <dgm:t>
        <a:bodyPr/>
        <a:lstStyle/>
        <a:p>
          <a:endParaRPr lang="en-US"/>
        </a:p>
      </dgm:t>
    </dgm:pt>
    <dgm:pt modelId="{0FCA8375-0F60-463F-8EF5-841BA13395ED}" type="pres">
      <dgm:prSet presAssocID="{7AA97052-1F10-47E7-8A1C-0DB1180E95C8}" presName="root" presStyleCnt="0">
        <dgm:presLayoutVars>
          <dgm:dir/>
          <dgm:resizeHandles val="exact"/>
        </dgm:presLayoutVars>
      </dgm:prSet>
      <dgm:spPr/>
    </dgm:pt>
    <dgm:pt modelId="{073C82F7-00A6-417D-8829-8AA5212905D7}" type="pres">
      <dgm:prSet presAssocID="{6B0E37EC-BF50-4515-B938-D6849CE28DD0}" presName="compNode" presStyleCnt="0"/>
      <dgm:spPr/>
    </dgm:pt>
    <dgm:pt modelId="{EA6EA364-7928-4FA8-8E10-BD1857DDECED}" type="pres">
      <dgm:prSet presAssocID="{6B0E37EC-BF50-4515-B938-D6849CE28DD0}" presName="iconBgRect" presStyleLbl="bgShp" presStyleIdx="0" presStyleCnt="5"/>
      <dgm:spPr>
        <a:prstGeom prst="round2DiagRect">
          <a:avLst>
            <a:gd name="adj1" fmla="val 29727"/>
            <a:gd name="adj2" fmla="val 0"/>
          </a:avLst>
        </a:prstGeom>
      </dgm:spPr>
    </dgm:pt>
    <dgm:pt modelId="{B8772789-CAB6-477D-9E6B-78BF0B0AB5AD}" type="pres">
      <dgm:prSet presAssocID="{6B0E37EC-BF50-4515-B938-D6849CE28DD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actory"/>
        </a:ext>
      </dgm:extLst>
    </dgm:pt>
    <dgm:pt modelId="{7F13EDEC-0C81-4F26-9375-A404836725EB}" type="pres">
      <dgm:prSet presAssocID="{6B0E37EC-BF50-4515-B938-D6849CE28DD0}" presName="spaceRect" presStyleCnt="0"/>
      <dgm:spPr/>
    </dgm:pt>
    <dgm:pt modelId="{16206CFF-D421-43ED-A8F0-F46A7BE2C1D6}" type="pres">
      <dgm:prSet presAssocID="{6B0E37EC-BF50-4515-B938-D6849CE28DD0}" presName="textRect" presStyleLbl="revTx" presStyleIdx="0" presStyleCnt="5">
        <dgm:presLayoutVars>
          <dgm:chMax val="1"/>
          <dgm:chPref val="1"/>
        </dgm:presLayoutVars>
      </dgm:prSet>
      <dgm:spPr/>
    </dgm:pt>
    <dgm:pt modelId="{BB0BB6CD-3A82-4F3F-A2DE-09973409BEC1}" type="pres">
      <dgm:prSet presAssocID="{61382709-8AC2-4086-94A8-100E563A9D7A}" presName="sibTrans" presStyleCnt="0"/>
      <dgm:spPr/>
    </dgm:pt>
    <dgm:pt modelId="{8448EFA6-6EF0-4C57-BA57-B5E1C4E2BCFE}" type="pres">
      <dgm:prSet presAssocID="{6B605FA8-5C0E-4D84-9C06-C23FDC91D949}" presName="compNode" presStyleCnt="0"/>
      <dgm:spPr/>
    </dgm:pt>
    <dgm:pt modelId="{EC205961-2C50-4947-9153-F2B44AB61364}" type="pres">
      <dgm:prSet presAssocID="{6B605FA8-5C0E-4D84-9C06-C23FDC91D949}" presName="iconBgRect" presStyleLbl="bgShp" presStyleIdx="1" presStyleCnt="5"/>
      <dgm:spPr>
        <a:prstGeom prst="round2DiagRect">
          <a:avLst>
            <a:gd name="adj1" fmla="val 29727"/>
            <a:gd name="adj2" fmla="val 0"/>
          </a:avLst>
        </a:prstGeom>
      </dgm:spPr>
    </dgm:pt>
    <dgm:pt modelId="{9C223D0D-80FC-4AC9-B18D-D50DAB26A12F}" type="pres">
      <dgm:prSet presAssocID="{6B605FA8-5C0E-4D84-9C06-C23FDC91D94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r"/>
        </a:ext>
      </dgm:extLst>
    </dgm:pt>
    <dgm:pt modelId="{8DFAD55A-98DF-4232-811C-A0D3EE2CAD05}" type="pres">
      <dgm:prSet presAssocID="{6B605FA8-5C0E-4D84-9C06-C23FDC91D949}" presName="spaceRect" presStyleCnt="0"/>
      <dgm:spPr/>
    </dgm:pt>
    <dgm:pt modelId="{1002E50E-FA5F-4972-83DE-AD0B401CB301}" type="pres">
      <dgm:prSet presAssocID="{6B605FA8-5C0E-4D84-9C06-C23FDC91D949}" presName="textRect" presStyleLbl="revTx" presStyleIdx="1" presStyleCnt="5">
        <dgm:presLayoutVars>
          <dgm:chMax val="1"/>
          <dgm:chPref val="1"/>
        </dgm:presLayoutVars>
      </dgm:prSet>
      <dgm:spPr/>
    </dgm:pt>
    <dgm:pt modelId="{154B961F-80B3-4817-96B9-0867A969F828}" type="pres">
      <dgm:prSet presAssocID="{1C2313C4-2C11-4048-A65C-BB4B55F555FA}" presName="sibTrans" presStyleCnt="0"/>
      <dgm:spPr/>
    </dgm:pt>
    <dgm:pt modelId="{3FD71C88-1412-4975-9F94-70415EB07199}" type="pres">
      <dgm:prSet presAssocID="{2DA5EEC1-2014-4F5D-9293-00E9281D7BA0}" presName="compNode" presStyleCnt="0"/>
      <dgm:spPr/>
    </dgm:pt>
    <dgm:pt modelId="{B4A6A339-B416-4905-803C-B4B5B0CD22A2}" type="pres">
      <dgm:prSet presAssocID="{2DA5EEC1-2014-4F5D-9293-00E9281D7BA0}" presName="iconBgRect" presStyleLbl="bgShp" presStyleIdx="2" presStyleCnt="5"/>
      <dgm:spPr>
        <a:prstGeom prst="round2DiagRect">
          <a:avLst>
            <a:gd name="adj1" fmla="val 29727"/>
            <a:gd name="adj2" fmla="val 0"/>
          </a:avLst>
        </a:prstGeom>
      </dgm:spPr>
    </dgm:pt>
    <dgm:pt modelId="{5FDF0251-650D-4695-A441-E33033A5FA42}" type="pres">
      <dgm:prSet presAssocID="{2DA5EEC1-2014-4F5D-9293-00E9281D7BA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884F8BCA-25B1-4506-A24E-3D02E8CF29C9}" type="pres">
      <dgm:prSet presAssocID="{2DA5EEC1-2014-4F5D-9293-00E9281D7BA0}" presName="spaceRect" presStyleCnt="0"/>
      <dgm:spPr/>
    </dgm:pt>
    <dgm:pt modelId="{BF68A1D4-41CE-4746-9BCB-28AD413454B3}" type="pres">
      <dgm:prSet presAssocID="{2DA5EEC1-2014-4F5D-9293-00E9281D7BA0}" presName="textRect" presStyleLbl="revTx" presStyleIdx="2" presStyleCnt="5">
        <dgm:presLayoutVars>
          <dgm:chMax val="1"/>
          <dgm:chPref val="1"/>
        </dgm:presLayoutVars>
      </dgm:prSet>
      <dgm:spPr/>
    </dgm:pt>
    <dgm:pt modelId="{5C3CF9DB-05DF-474C-B0F7-B5CD443D5179}" type="pres">
      <dgm:prSet presAssocID="{39E3C82C-5D0C-4955-AAB4-FB54D393A587}" presName="sibTrans" presStyleCnt="0"/>
      <dgm:spPr/>
    </dgm:pt>
    <dgm:pt modelId="{21BCD0B0-E0A3-4DFA-ADDB-2698B0D3722E}" type="pres">
      <dgm:prSet presAssocID="{81DF5BB6-9161-4CD0-9482-86E5626BC27B}" presName="compNode" presStyleCnt="0"/>
      <dgm:spPr/>
    </dgm:pt>
    <dgm:pt modelId="{50CDC12F-2E8B-4B83-B414-0DB2704F3471}" type="pres">
      <dgm:prSet presAssocID="{81DF5BB6-9161-4CD0-9482-86E5626BC27B}" presName="iconBgRect" presStyleLbl="bgShp" presStyleIdx="3" presStyleCnt="5"/>
      <dgm:spPr>
        <a:prstGeom prst="round2DiagRect">
          <a:avLst>
            <a:gd name="adj1" fmla="val 29727"/>
            <a:gd name="adj2" fmla="val 0"/>
          </a:avLst>
        </a:prstGeom>
      </dgm:spPr>
    </dgm:pt>
    <dgm:pt modelId="{3BFF6602-4A8E-4D87-A669-328DA2D57DC5}" type="pres">
      <dgm:prSet presAssocID="{81DF5BB6-9161-4CD0-9482-86E5626BC27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Network"/>
        </a:ext>
      </dgm:extLst>
    </dgm:pt>
    <dgm:pt modelId="{E4730581-585E-4B05-8A4B-3C14E90EE27C}" type="pres">
      <dgm:prSet presAssocID="{81DF5BB6-9161-4CD0-9482-86E5626BC27B}" presName="spaceRect" presStyleCnt="0"/>
      <dgm:spPr/>
    </dgm:pt>
    <dgm:pt modelId="{499D850E-4233-413C-BEBA-C7FC239144FF}" type="pres">
      <dgm:prSet presAssocID="{81DF5BB6-9161-4CD0-9482-86E5626BC27B}" presName="textRect" presStyleLbl="revTx" presStyleIdx="3" presStyleCnt="5">
        <dgm:presLayoutVars>
          <dgm:chMax val="1"/>
          <dgm:chPref val="1"/>
        </dgm:presLayoutVars>
      </dgm:prSet>
      <dgm:spPr/>
    </dgm:pt>
    <dgm:pt modelId="{250253CE-CB72-4368-8C02-8B41246FAC1C}" type="pres">
      <dgm:prSet presAssocID="{02A64B51-33DC-477E-97F7-B64FA0EA64B2}" presName="sibTrans" presStyleCnt="0"/>
      <dgm:spPr/>
    </dgm:pt>
    <dgm:pt modelId="{324F5C49-3E5C-4C2D-96BF-3299A806171C}" type="pres">
      <dgm:prSet presAssocID="{6148C958-B4F7-46B7-BF3D-523020A7808D}" presName="compNode" presStyleCnt="0"/>
      <dgm:spPr/>
    </dgm:pt>
    <dgm:pt modelId="{8E208D3E-FC56-4677-AD36-0E60EED8F112}" type="pres">
      <dgm:prSet presAssocID="{6148C958-B4F7-46B7-BF3D-523020A7808D}" presName="iconBgRect" presStyleLbl="bgShp" presStyleIdx="4" presStyleCnt="5"/>
      <dgm:spPr>
        <a:prstGeom prst="round2DiagRect">
          <a:avLst>
            <a:gd name="adj1" fmla="val 29727"/>
            <a:gd name="adj2" fmla="val 0"/>
          </a:avLst>
        </a:prstGeom>
      </dgm:spPr>
    </dgm:pt>
    <dgm:pt modelId="{5A122BDA-8D12-4C33-BA21-AC83D9394DDD}" type="pres">
      <dgm:prSet presAssocID="{6148C958-B4F7-46B7-BF3D-523020A7808D}"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oney"/>
        </a:ext>
      </dgm:extLst>
    </dgm:pt>
    <dgm:pt modelId="{DCF8E2CF-0254-4645-9F0F-B757CBF55C41}" type="pres">
      <dgm:prSet presAssocID="{6148C958-B4F7-46B7-BF3D-523020A7808D}" presName="spaceRect" presStyleCnt="0"/>
      <dgm:spPr/>
    </dgm:pt>
    <dgm:pt modelId="{9CA0BEAB-89EF-411A-B978-B3F0CA7BA727}" type="pres">
      <dgm:prSet presAssocID="{6148C958-B4F7-46B7-BF3D-523020A7808D}" presName="textRect" presStyleLbl="revTx" presStyleIdx="4" presStyleCnt="5">
        <dgm:presLayoutVars>
          <dgm:chMax val="1"/>
          <dgm:chPref val="1"/>
        </dgm:presLayoutVars>
      </dgm:prSet>
      <dgm:spPr/>
    </dgm:pt>
  </dgm:ptLst>
  <dgm:cxnLst>
    <dgm:cxn modelId="{6DA4571F-3535-42C6-A640-63268B6D9B63}" srcId="{7AA97052-1F10-47E7-8A1C-0DB1180E95C8}" destId="{6148C958-B4F7-46B7-BF3D-523020A7808D}" srcOrd="4" destOrd="0" parTransId="{AE7160EF-0D5E-4408-ACA8-98E767697101}" sibTransId="{5F4422B4-10FA-4E90-92FA-05B80B216F48}"/>
    <dgm:cxn modelId="{CDC43525-5EF4-41C8-A502-630CDBB6964C}" srcId="{7AA97052-1F10-47E7-8A1C-0DB1180E95C8}" destId="{6B605FA8-5C0E-4D84-9C06-C23FDC91D949}" srcOrd="1" destOrd="0" parTransId="{4AC586DF-C91D-4369-95AE-A92F17C965B0}" sibTransId="{1C2313C4-2C11-4048-A65C-BB4B55F555FA}"/>
    <dgm:cxn modelId="{5746DB37-FFB6-4492-8B04-A09A8018781E}" type="presOf" srcId="{7AA97052-1F10-47E7-8A1C-0DB1180E95C8}" destId="{0FCA8375-0F60-463F-8EF5-841BA13395ED}" srcOrd="0" destOrd="0" presId="urn:microsoft.com/office/officeart/2018/5/layout/IconLeafLabelList"/>
    <dgm:cxn modelId="{9320BF5C-75D5-48EF-805C-B37FD4C8AD2E}" type="presOf" srcId="{6B605FA8-5C0E-4D84-9C06-C23FDC91D949}" destId="{1002E50E-FA5F-4972-83DE-AD0B401CB301}" srcOrd="0" destOrd="0" presId="urn:microsoft.com/office/officeart/2018/5/layout/IconLeafLabelList"/>
    <dgm:cxn modelId="{6558BD64-206D-492C-A81A-FCFE745E4988}" srcId="{7AA97052-1F10-47E7-8A1C-0DB1180E95C8}" destId="{2DA5EEC1-2014-4F5D-9293-00E9281D7BA0}" srcOrd="2" destOrd="0" parTransId="{6F6942E2-889A-46E9-BAA4-ABDE510EDA56}" sibTransId="{39E3C82C-5D0C-4955-AAB4-FB54D393A587}"/>
    <dgm:cxn modelId="{0F2C9A68-4E4B-48A7-A490-BE89E09977D1}" type="presOf" srcId="{2DA5EEC1-2014-4F5D-9293-00E9281D7BA0}" destId="{BF68A1D4-41CE-4746-9BCB-28AD413454B3}" srcOrd="0" destOrd="0" presId="urn:microsoft.com/office/officeart/2018/5/layout/IconLeafLabelList"/>
    <dgm:cxn modelId="{B0BB646F-6D88-4888-A148-2E63FA3682CE}" srcId="{7AA97052-1F10-47E7-8A1C-0DB1180E95C8}" destId="{6B0E37EC-BF50-4515-B938-D6849CE28DD0}" srcOrd="0" destOrd="0" parTransId="{2E488303-42DC-4692-B960-DC8BF5F49F52}" sibTransId="{61382709-8AC2-4086-94A8-100E563A9D7A}"/>
    <dgm:cxn modelId="{678ADE88-B2DF-4DB4-BE65-5092643BDE30}" type="presOf" srcId="{81DF5BB6-9161-4CD0-9482-86E5626BC27B}" destId="{499D850E-4233-413C-BEBA-C7FC239144FF}" srcOrd="0" destOrd="0" presId="urn:microsoft.com/office/officeart/2018/5/layout/IconLeafLabelList"/>
    <dgm:cxn modelId="{48201B8D-A0A4-45AB-911F-88590E635665}" type="presOf" srcId="{6148C958-B4F7-46B7-BF3D-523020A7808D}" destId="{9CA0BEAB-89EF-411A-B978-B3F0CA7BA727}" srcOrd="0" destOrd="0" presId="urn:microsoft.com/office/officeart/2018/5/layout/IconLeafLabelList"/>
    <dgm:cxn modelId="{D864BDAA-77A2-44A7-8FBC-34FB88AA0332}" srcId="{7AA97052-1F10-47E7-8A1C-0DB1180E95C8}" destId="{81DF5BB6-9161-4CD0-9482-86E5626BC27B}" srcOrd="3" destOrd="0" parTransId="{A44192D8-BEEA-4FE1-970F-EF5B8FAB5394}" sibTransId="{02A64B51-33DC-477E-97F7-B64FA0EA64B2}"/>
    <dgm:cxn modelId="{98B54CB2-83B5-44CA-89F7-C06B843ADDAF}" type="presOf" srcId="{6B0E37EC-BF50-4515-B938-D6849CE28DD0}" destId="{16206CFF-D421-43ED-A8F0-F46A7BE2C1D6}" srcOrd="0" destOrd="0" presId="urn:microsoft.com/office/officeart/2018/5/layout/IconLeafLabelList"/>
    <dgm:cxn modelId="{AFA91A71-3EBD-40C6-A95F-FEF13190866A}" type="presParOf" srcId="{0FCA8375-0F60-463F-8EF5-841BA13395ED}" destId="{073C82F7-00A6-417D-8829-8AA5212905D7}" srcOrd="0" destOrd="0" presId="urn:microsoft.com/office/officeart/2018/5/layout/IconLeafLabelList"/>
    <dgm:cxn modelId="{C30E33DD-05EF-4992-B08B-E37BD1C3FBC6}" type="presParOf" srcId="{073C82F7-00A6-417D-8829-8AA5212905D7}" destId="{EA6EA364-7928-4FA8-8E10-BD1857DDECED}" srcOrd="0" destOrd="0" presId="urn:microsoft.com/office/officeart/2018/5/layout/IconLeafLabelList"/>
    <dgm:cxn modelId="{9A124633-4E88-4AA8-B79B-86B691FBC4EE}" type="presParOf" srcId="{073C82F7-00A6-417D-8829-8AA5212905D7}" destId="{B8772789-CAB6-477D-9E6B-78BF0B0AB5AD}" srcOrd="1" destOrd="0" presId="urn:microsoft.com/office/officeart/2018/5/layout/IconLeafLabelList"/>
    <dgm:cxn modelId="{12DA661B-F030-4B4A-B10B-701768FD5C4C}" type="presParOf" srcId="{073C82F7-00A6-417D-8829-8AA5212905D7}" destId="{7F13EDEC-0C81-4F26-9375-A404836725EB}" srcOrd="2" destOrd="0" presId="urn:microsoft.com/office/officeart/2018/5/layout/IconLeafLabelList"/>
    <dgm:cxn modelId="{DF2E6353-BA28-4979-B91F-9C586FE0AA7C}" type="presParOf" srcId="{073C82F7-00A6-417D-8829-8AA5212905D7}" destId="{16206CFF-D421-43ED-A8F0-F46A7BE2C1D6}" srcOrd="3" destOrd="0" presId="urn:microsoft.com/office/officeart/2018/5/layout/IconLeafLabelList"/>
    <dgm:cxn modelId="{86A4896A-1472-4942-B3B1-11E81519C18D}" type="presParOf" srcId="{0FCA8375-0F60-463F-8EF5-841BA13395ED}" destId="{BB0BB6CD-3A82-4F3F-A2DE-09973409BEC1}" srcOrd="1" destOrd="0" presId="urn:microsoft.com/office/officeart/2018/5/layout/IconLeafLabelList"/>
    <dgm:cxn modelId="{15504FA7-2F94-43FD-8007-A81AB7C82FD4}" type="presParOf" srcId="{0FCA8375-0F60-463F-8EF5-841BA13395ED}" destId="{8448EFA6-6EF0-4C57-BA57-B5E1C4E2BCFE}" srcOrd="2" destOrd="0" presId="urn:microsoft.com/office/officeart/2018/5/layout/IconLeafLabelList"/>
    <dgm:cxn modelId="{A9139BC0-8D70-44D5-8BFF-5BEE45EF1BEC}" type="presParOf" srcId="{8448EFA6-6EF0-4C57-BA57-B5E1C4E2BCFE}" destId="{EC205961-2C50-4947-9153-F2B44AB61364}" srcOrd="0" destOrd="0" presId="urn:microsoft.com/office/officeart/2018/5/layout/IconLeafLabelList"/>
    <dgm:cxn modelId="{DA313AB4-0734-49F0-85FC-938E0B15D6EF}" type="presParOf" srcId="{8448EFA6-6EF0-4C57-BA57-B5E1C4E2BCFE}" destId="{9C223D0D-80FC-4AC9-B18D-D50DAB26A12F}" srcOrd="1" destOrd="0" presId="urn:microsoft.com/office/officeart/2018/5/layout/IconLeafLabelList"/>
    <dgm:cxn modelId="{E13A42FD-4CE4-412F-BDF4-53EED9A47738}" type="presParOf" srcId="{8448EFA6-6EF0-4C57-BA57-B5E1C4E2BCFE}" destId="{8DFAD55A-98DF-4232-811C-A0D3EE2CAD05}" srcOrd="2" destOrd="0" presId="urn:microsoft.com/office/officeart/2018/5/layout/IconLeafLabelList"/>
    <dgm:cxn modelId="{EE39AC7D-8803-4B28-864D-F6D09268DE78}" type="presParOf" srcId="{8448EFA6-6EF0-4C57-BA57-B5E1C4E2BCFE}" destId="{1002E50E-FA5F-4972-83DE-AD0B401CB301}" srcOrd="3" destOrd="0" presId="urn:microsoft.com/office/officeart/2018/5/layout/IconLeafLabelList"/>
    <dgm:cxn modelId="{738A7ABC-A306-41B8-8AF8-DFD17C7019E5}" type="presParOf" srcId="{0FCA8375-0F60-463F-8EF5-841BA13395ED}" destId="{154B961F-80B3-4817-96B9-0867A969F828}" srcOrd="3" destOrd="0" presId="urn:microsoft.com/office/officeart/2018/5/layout/IconLeafLabelList"/>
    <dgm:cxn modelId="{CD699121-4C9F-4DFE-8184-82DF8AC07B7F}" type="presParOf" srcId="{0FCA8375-0F60-463F-8EF5-841BA13395ED}" destId="{3FD71C88-1412-4975-9F94-70415EB07199}" srcOrd="4" destOrd="0" presId="urn:microsoft.com/office/officeart/2018/5/layout/IconLeafLabelList"/>
    <dgm:cxn modelId="{78458C5B-5C0D-4B8A-9276-5499EA00F2DA}" type="presParOf" srcId="{3FD71C88-1412-4975-9F94-70415EB07199}" destId="{B4A6A339-B416-4905-803C-B4B5B0CD22A2}" srcOrd="0" destOrd="0" presId="urn:microsoft.com/office/officeart/2018/5/layout/IconLeafLabelList"/>
    <dgm:cxn modelId="{B8C1453B-72BF-436F-97E1-0D272E563CED}" type="presParOf" srcId="{3FD71C88-1412-4975-9F94-70415EB07199}" destId="{5FDF0251-650D-4695-A441-E33033A5FA42}" srcOrd="1" destOrd="0" presId="urn:microsoft.com/office/officeart/2018/5/layout/IconLeafLabelList"/>
    <dgm:cxn modelId="{302BA4EF-10A0-44D1-9E8B-E50F33C2501A}" type="presParOf" srcId="{3FD71C88-1412-4975-9F94-70415EB07199}" destId="{884F8BCA-25B1-4506-A24E-3D02E8CF29C9}" srcOrd="2" destOrd="0" presId="urn:microsoft.com/office/officeart/2018/5/layout/IconLeafLabelList"/>
    <dgm:cxn modelId="{89471395-3203-4DED-A047-F9897C886857}" type="presParOf" srcId="{3FD71C88-1412-4975-9F94-70415EB07199}" destId="{BF68A1D4-41CE-4746-9BCB-28AD413454B3}" srcOrd="3" destOrd="0" presId="urn:microsoft.com/office/officeart/2018/5/layout/IconLeafLabelList"/>
    <dgm:cxn modelId="{C184CD5C-683F-497F-A63A-E580B71EEF8A}" type="presParOf" srcId="{0FCA8375-0F60-463F-8EF5-841BA13395ED}" destId="{5C3CF9DB-05DF-474C-B0F7-B5CD443D5179}" srcOrd="5" destOrd="0" presId="urn:microsoft.com/office/officeart/2018/5/layout/IconLeafLabelList"/>
    <dgm:cxn modelId="{13D8502A-5587-4A88-8792-10CE0279983D}" type="presParOf" srcId="{0FCA8375-0F60-463F-8EF5-841BA13395ED}" destId="{21BCD0B0-E0A3-4DFA-ADDB-2698B0D3722E}" srcOrd="6" destOrd="0" presId="urn:microsoft.com/office/officeart/2018/5/layout/IconLeafLabelList"/>
    <dgm:cxn modelId="{2AA1EC97-3995-439D-ABFE-DB7AB8E901B2}" type="presParOf" srcId="{21BCD0B0-E0A3-4DFA-ADDB-2698B0D3722E}" destId="{50CDC12F-2E8B-4B83-B414-0DB2704F3471}" srcOrd="0" destOrd="0" presId="urn:microsoft.com/office/officeart/2018/5/layout/IconLeafLabelList"/>
    <dgm:cxn modelId="{5655F802-3029-436F-9D37-E9AD0F4D3693}" type="presParOf" srcId="{21BCD0B0-E0A3-4DFA-ADDB-2698B0D3722E}" destId="{3BFF6602-4A8E-4D87-A669-328DA2D57DC5}" srcOrd="1" destOrd="0" presId="urn:microsoft.com/office/officeart/2018/5/layout/IconLeafLabelList"/>
    <dgm:cxn modelId="{BF8ACBA6-1E31-435B-A079-838BFA6FD475}" type="presParOf" srcId="{21BCD0B0-E0A3-4DFA-ADDB-2698B0D3722E}" destId="{E4730581-585E-4B05-8A4B-3C14E90EE27C}" srcOrd="2" destOrd="0" presId="urn:microsoft.com/office/officeart/2018/5/layout/IconLeafLabelList"/>
    <dgm:cxn modelId="{6A7C9493-710C-45B3-9789-8FC008CDE8DE}" type="presParOf" srcId="{21BCD0B0-E0A3-4DFA-ADDB-2698B0D3722E}" destId="{499D850E-4233-413C-BEBA-C7FC239144FF}" srcOrd="3" destOrd="0" presId="urn:microsoft.com/office/officeart/2018/5/layout/IconLeafLabelList"/>
    <dgm:cxn modelId="{8C2DAAB4-0AEF-4BBA-95AB-69A09FF0B39F}" type="presParOf" srcId="{0FCA8375-0F60-463F-8EF5-841BA13395ED}" destId="{250253CE-CB72-4368-8C02-8B41246FAC1C}" srcOrd="7" destOrd="0" presId="urn:microsoft.com/office/officeart/2018/5/layout/IconLeafLabelList"/>
    <dgm:cxn modelId="{919CDF00-E4B2-4E94-B63B-DE1323F347F6}" type="presParOf" srcId="{0FCA8375-0F60-463F-8EF5-841BA13395ED}" destId="{324F5C49-3E5C-4C2D-96BF-3299A806171C}" srcOrd="8" destOrd="0" presId="urn:microsoft.com/office/officeart/2018/5/layout/IconLeafLabelList"/>
    <dgm:cxn modelId="{1F763984-7537-4903-B2C3-33F4110429AD}" type="presParOf" srcId="{324F5C49-3E5C-4C2D-96BF-3299A806171C}" destId="{8E208D3E-FC56-4677-AD36-0E60EED8F112}" srcOrd="0" destOrd="0" presId="urn:microsoft.com/office/officeart/2018/5/layout/IconLeafLabelList"/>
    <dgm:cxn modelId="{11AD71DC-EF7C-485C-BFEC-BFBD126500CF}" type="presParOf" srcId="{324F5C49-3E5C-4C2D-96BF-3299A806171C}" destId="{5A122BDA-8D12-4C33-BA21-AC83D9394DDD}" srcOrd="1" destOrd="0" presId="urn:microsoft.com/office/officeart/2018/5/layout/IconLeafLabelList"/>
    <dgm:cxn modelId="{DBE89C1F-C4D1-4718-8848-3B972500A5EC}" type="presParOf" srcId="{324F5C49-3E5C-4C2D-96BF-3299A806171C}" destId="{DCF8E2CF-0254-4645-9F0F-B757CBF55C41}" srcOrd="2" destOrd="0" presId="urn:microsoft.com/office/officeart/2018/5/layout/IconLeafLabelList"/>
    <dgm:cxn modelId="{50929EE4-FA15-4A39-978C-44A0346901BD}" type="presParOf" srcId="{324F5C49-3E5C-4C2D-96BF-3299A806171C}" destId="{9CA0BEAB-89EF-411A-B978-B3F0CA7BA727}"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6EA364-7928-4FA8-8E10-BD1857DDECED}">
      <dsp:nvSpPr>
        <dsp:cNvPr id="0" name=""/>
        <dsp:cNvSpPr/>
      </dsp:nvSpPr>
      <dsp:spPr>
        <a:xfrm>
          <a:off x="684914" y="948902"/>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772789-CAB6-477D-9E6B-78BF0B0AB5AD}">
      <dsp:nvSpPr>
        <dsp:cNvPr id="0" name=""/>
        <dsp:cNvSpPr/>
      </dsp:nvSpPr>
      <dsp:spPr>
        <a:xfrm>
          <a:off x="918914" y="11829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206CFF-D421-43ED-A8F0-F46A7BE2C1D6}">
      <dsp:nvSpPr>
        <dsp:cNvPr id="0" name=""/>
        <dsp:cNvSpPr/>
      </dsp:nvSpPr>
      <dsp:spPr>
        <a:xfrm>
          <a:off x="333914" y="2388902"/>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rtl="0">
            <a:lnSpc>
              <a:spcPct val="100000"/>
            </a:lnSpc>
            <a:spcBef>
              <a:spcPct val="0"/>
            </a:spcBef>
            <a:spcAft>
              <a:spcPct val="35000"/>
            </a:spcAft>
            <a:buNone/>
            <a:defRPr cap="all"/>
          </a:pPr>
          <a:r>
            <a:rPr lang="en-US" sz="1100" kern="1200"/>
            <a:t>CarMax started in the 1990’s.</a:t>
          </a:r>
          <a:r>
            <a:rPr lang="en-US" sz="1100" kern="1200">
              <a:latin typeface="Aptos Display" panose="02110004020202020204"/>
            </a:rPr>
            <a:t>                            (Features and Price)</a:t>
          </a:r>
          <a:endParaRPr lang="en-US" sz="1100" kern="1200"/>
        </a:p>
      </dsp:txBody>
      <dsp:txXfrm>
        <a:off x="333914" y="2388902"/>
        <a:ext cx="1800000" cy="855000"/>
      </dsp:txXfrm>
    </dsp:sp>
    <dsp:sp modelId="{EC205961-2C50-4947-9153-F2B44AB61364}">
      <dsp:nvSpPr>
        <dsp:cNvPr id="0" name=""/>
        <dsp:cNvSpPr/>
      </dsp:nvSpPr>
      <dsp:spPr>
        <a:xfrm>
          <a:off x="2799914" y="948902"/>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223D0D-80FC-4AC9-B18D-D50DAB26A12F}">
      <dsp:nvSpPr>
        <dsp:cNvPr id="0" name=""/>
        <dsp:cNvSpPr/>
      </dsp:nvSpPr>
      <dsp:spPr>
        <a:xfrm>
          <a:off x="3033914" y="11829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02E50E-FA5F-4972-83DE-AD0B401CB301}">
      <dsp:nvSpPr>
        <dsp:cNvPr id="0" name=""/>
        <dsp:cNvSpPr/>
      </dsp:nvSpPr>
      <dsp:spPr>
        <a:xfrm>
          <a:off x="2448914" y="2388902"/>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rtl="0">
            <a:lnSpc>
              <a:spcPct val="100000"/>
            </a:lnSpc>
            <a:spcBef>
              <a:spcPct val="0"/>
            </a:spcBef>
            <a:spcAft>
              <a:spcPct val="35000"/>
            </a:spcAft>
            <a:buNone/>
            <a:defRPr cap="all"/>
          </a:pPr>
          <a:r>
            <a:rPr lang="en-US" sz="1100" kern="1200"/>
            <a:t>It is the largest used car retailer in the US.</a:t>
          </a:r>
          <a:r>
            <a:rPr lang="en-US" sz="1100" kern="1200">
              <a:latin typeface="Aptos Display" panose="02110004020202020204"/>
            </a:rPr>
            <a:t>            (173 Stores and More)</a:t>
          </a:r>
          <a:endParaRPr lang="en-US" sz="1100" kern="1200"/>
        </a:p>
      </dsp:txBody>
      <dsp:txXfrm>
        <a:off x="2448914" y="2388902"/>
        <a:ext cx="1800000" cy="855000"/>
      </dsp:txXfrm>
    </dsp:sp>
    <dsp:sp modelId="{B4A6A339-B416-4905-803C-B4B5B0CD22A2}">
      <dsp:nvSpPr>
        <dsp:cNvPr id="0" name=""/>
        <dsp:cNvSpPr/>
      </dsp:nvSpPr>
      <dsp:spPr>
        <a:xfrm>
          <a:off x="4914914" y="948902"/>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DF0251-650D-4695-A441-E33033A5FA42}">
      <dsp:nvSpPr>
        <dsp:cNvPr id="0" name=""/>
        <dsp:cNvSpPr/>
      </dsp:nvSpPr>
      <dsp:spPr>
        <a:xfrm>
          <a:off x="5148914" y="11829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68A1D4-41CE-4746-9BCB-28AD413454B3}">
      <dsp:nvSpPr>
        <dsp:cNvPr id="0" name=""/>
        <dsp:cNvSpPr/>
      </dsp:nvSpPr>
      <dsp:spPr>
        <a:xfrm>
          <a:off x="4563914" y="2388902"/>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rtl="0">
            <a:lnSpc>
              <a:spcPct val="100000"/>
            </a:lnSpc>
            <a:spcBef>
              <a:spcPct val="0"/>
            </a:spcBef>
            <a:spcAft>
              <a:spcPct val="35000"/>
            </a:spcAft>
            <a:buNone/>
            <a:defRPr cap="all"/>
          </a:pPr>
          <a:r>
            <a:rPr lang="en-US" sz="1100" kern="1200"/>
            <a:t>Built a website custom for consumers.</a:t>
          </a:r>
          <a:r>
            <a:rPr lang="en-US" sz="1100" kern="1200">
              <a:latin typeface="Aptos Display" panose="02110004020202020204"/>
            </a:rPr>
            <a:t>                               (Like Amazon)</a:t>
          </a:r>
          <a:endParaRPr lang="en-US" sz="1100" kern="1200"/>
        </a:p>
      </dsp:txBody>
      <dsp:txXfrm>
        <a:off x="4563914" y="2388902"/>
        <a:ext cx="1800000" cy="855000"/>
      </dsp:txXfrm>
    </dsp:sp>
    <dsp:sp modelId="{50CDC12F-2E8B-4B83-B414-0DB2704F3471}">
      <dsp:nvSpPr>
        <dsp:cNvPr id="0" name=""/>
        <dsp:cNvSpPr/>
      </dsp:nvSpPr>
      <dsp:spPr>
        <a:xfrm>
          <a:off x="7029914" y="948902"/>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FF6602-4A8E-4D87-A669-328DA2D57DC5}">
      <dsp:nvSpPr>
        <dsp:cNvPr id="0" name=""/>
        <dsp:cNvSpPr/>
      </dsp:nvSpPr>
      <dsp:spPr>
        <a:xfrm>
          <a:off x="7263914" y="11829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9D850E-4233-413C-BEBA-C7FC239144FF}">
      <dsp:nvSpPr>
        <dsp:cNvPr id="0" name=""/>
        <dsp:cNvSpPr/>
      </dsp:nvSpPr>
      <dsp:spPr>
        <a:xfrm>
          <a:off x="6678914" y="2388902"/>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rtl="0">
            <a:lnSpc>
              <a:spcPct val="100000"/>
            </a:lnSpc>
            <a:spcBef>
              <a:spcPct val="0"/>
            </a:spcBef>
            <a:spcAft>
              <a:spcPct val="35000"/>
            </a:spcAft>
            <a:buNone/>
            <a:defRPr cap="all"/>
          </a:pPr>
          <a:r>
            <a:rPr lang="en-US" sz="1100" kern="1200"/>
            <a:t>Centralized Vehicle inventory system.</a:t>
          </a:r>
          <a:r>
            <a:rPr lang="en-US" sz="1100" kern="1200">
              <a:latin typeface="Aptos Display" panose="02110004020202020204"/>
            </a:rPr>
            <a:t>        (Over 50,000 Certified Vehicles and Transfer 30%)</a:t>
          </a:r>
          <a:endParaRPr lang="en-US" sz="1100" kern="1200"/>
        </a:p>
      </dsp:txBody>
      <dsp:txXfrm>
        <a:off x="6678914" y="2388902"/>
        <a:ext cx="1800000" cy="855000"/>
      </dsp:txXfrm>
    </dsp:sp>
    <dsp:sp modelId="{8E208D3E-FC56-4677-AD36-0E60EED8F112}">
      <dsp:nvSpPr>
        <dsp:cNvPr id="0" name=""/>
        <dsp:cNvSpPr/>
      </dsp:nvSpPr>
      <dsp:spPr>
        <a:xfrm>
          <a:off x="9144914" y="948902"/>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122BDA-8D12-4C33-BA21-AC83D9394DDD}">
      <dsp:nvSpPr>
        <dsp:cNvPr id="0" name=""/>
        <dsp:cNvSpPr/>
      </dsp:nvSpPr>
      <dsp:spPr>
        <a:xfrm>
          <a:off x="9378914" y="118290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A0BEAB-89EF-411A-B978-B3F0CA7BA727}">
      <dsp:nvSpPr>
        <dsp:cNvPr id="0" name=""/>
        <dsp:cNvSpPr/>
      </dsp:nvSpPr>
      <dsp:spPr>
        <a:xfrm>
          <a:off x="8793914" y="2388902"/>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rtl="0">
            <a:lnSpc>
              <a:spcPct val="100000"/>
            </a:lnSpc>
            <a:spcBef>
              <a:spcPct val="0"/>
            </a:spcBef>
            <a:spcAft>
              <a:spcPct val="35000"/>
            </a:spcAft>
            <a:buNone/>
            <a:defRPr cap="all"/>
          </a:pPr>
          <a:r>
            <a:rPr lang="en-US" sz="1100" kern="1200"/>
            <a:t>Prequalify customer loans prior to store visit.</a:t>
          </a:r>
          <a:r>
            <a:rPr lang="en-US" sz="1100" kern="1200">
              <a:latin typeface="Aptos Display" panose="02110004020202020204"/>
            </a:rPr>
            <a:t>                                    (Sales Process, Well Received)</a:t>
          </a:r>
          <a:endParaRPr lang="en-US" sz="1100" kern="1200"/>
        </a:p>
      </dsp:txBody>
      <dsp:txXfrm>
        <a:off x="8793914" y="2388902"/>
        <a:ext cx="1800000" cy="855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1B8C95-8DF4-4672-9DC5-0299EFD6238A}"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F58EB6-10DA-49BB-9975-7ED65F6540E1}" type="slidenum">
              <a:rPr lang="en-US" smtClean="0"/>
              <a:t>‹#›</a:t>
            </a:fld>
            <a:endParaRPr lang="en-US"/>
          </a:p>
        </p:txBody>
      </p:sp>
    </p:spTree>
    <p:extLst>
      <p:ext uri="{BB962C8B-B14F-4D97-AF65-F5344CB8AC3E}">
        <p14:creationId xmlns:p14="http://schemas.microsoft.com/office/powerpoint/2010/main" val="1606885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no-haggle car prices that allows the customer to focus on other features (such as fuel economy, safety features, entertainment package, and so on) of the auto.</a:t>
            </a:r>
          </a:p>
          <a:p>
            <a:r>
              <a:rPr lang="en-US" dirty="0"/>
              <a:t>-Millions of cars are ruled out by our vetting process, and we never sell cars with flood damage, frame damage, or salvage history.</a:t>
            </a:r>
          </a:p>
          <a:p>
            <a:r>
              <a:rPr lang="en-US" dirty="0"/>
              <a:t>-125+ details : Anything that doesn't meet our standards is repaired or replaced by our highly trained technicians</a:t>
            </a:r>
          </a:p>
          <a:p>
            <a:r>
              <a:rPr lang="en-US" dirty="0"/>
              <a:t>-We spend hours replacing parts, fixing major dents or scratches, and detailing to make your car feel like new. Then we give each car a final quality check.</a:t>
            </a:r>
          </a:p>
          <a:p>
            <a:r>
              <a:rPr lang="en-US" dirty="0"/>
              <a:t>-Take up to 24 hours to make sure the one you want is the one you'll love.</a:t>
            </a:r>
          </a:p>
          <a:p>
            <a:r>
              <a:rPr lang="en-US" dirty="0"/>
              <a:t>-Our associates are paid the same regardless of a car's price, so we only work to find the best car for you.</a:t>
            </a:r>
          </a:p>
          <a:p>
            <a:r>
              <a:rPr lang="en-US"/>
              <a:t>-Our limited warranty covers your vehicle's major systems for 90 days or 4,000 miles, whichever comes first. See store for written details.</a:t>
            </a:r>
            <a:endParaRPr lang="en-US" dirty="0"/>
          </a:p>
          <a:p>
            <a:r>
              <a:rPr lang="en-US" dirty="0"/>
              <a:t>- 173 used car stores and an aggressive growth plan that calls for the opening of more than a dozen new stores each year. </a:t>
            </a:r>
          </a:p>
          <a:p>
            <a:r>
              <a:rPr lang="en-US" dirty="0"/>
              <a:t>-similar to the highly effective “Amazon product description” design with which most consumers are familiar.</a:t>
            </a:r>
          </a:p>
          <a:p>
            <a:r>
              <a:rPr lang="en-US" dirty="0"/>
              <a:t>-information on over 50,000 CarMax Quality Certified vehicles. Its customers can search through this inventory using their mobile devices or portable or desktop computers. Consumers may even request that CarMax transfer the car of their choice to a store near them and, indeed, nearly 30 percent of the cars it sells are transferred for this reason.</a:t>
            </a:r>
          </a:p>
          <a:p>
            <a:r>
              <a:rPr lang="en-US" dirty="0"/>
              <a:t>-This app helps move the customer further along the sales process and provides a faster in-store shopping experience. It has been received well by customers and contributes to increased leads, which CarMax believes generates incremental sales.</a:t>
            </a:r>
          </a:p>
          <a:p>
            <a:endParaRPr lang="en-US"/>
          </a:p>
          <a:p>
            <a:endParaRPr lang="en-US"/>
          </a:p>
        </p:txBody>
      </p:sp>
      <p:sp>
        <p:nvSpPr>
          <p:cNvPr id="4" name="Slide Number Placeholder 3"/>
          <p:cNvSpPr>
            <a:spLocks noGrp="1"/>
          </p:cNvSpPr>
          <p:nvPr>
            <p:ph type="sldNum" sz="quarter" idx="5"/>
          </p:nvPr>
        </p:nvSpPr>
        <p:spPr/>
        <p:txBody>
          <a:bodyPr/>
          <a:lstStyle/>
          <a:p>
            <a:fld id="{74F58EB6-10DA-49BB-9975-7ED65F6540E1}" type="slidenum">
              <a:rPr lang="en-US" smtClean="0"/>
              <a:t>2</a:t>
            </a:fld>
            <a:endParaRPr lang="en-US"/>
          </a:p>
        </p:txBody>
      </p:sp>
    </p:spTree>
    <p:extLst>
      <p:ext uri="{BB962C8B-B14F-4D97-AF65-F5344CB8AC3E}">
        <p14:creationId xmlns:p14="http://schemas.microsoft.com/office/powerpoint/2010/main" val="3382082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a:t>Innovative retail model, Quality and reputation( high quality used vehicles), Market Disruption( many traditional dealerships to reconsider operations), Competition with online platforms like Carvana and Vroom, Strong Customer Loyalty(straightforward, hassle-free car-buying experience is highly valued by consumers. Competitors recognize that CarMax has effectively leveraged trust and transparency to build a loyal customer base.) Finacial strength and growth.</a:t>
            </a:r>
          </a:p>
          <a:p>
            <a:pPr marL="171450" indent="-171450">
              <a:buFont typeface="Calibri"/>
              <a:buChar char="-"/>
            </a:pPr>
            <a:endParaRPr lang="en-US"/>
          </a:p>
          <a:p>
            <a:pPr marL="171450" indent="-171450">
              <a:buFont typeface="Calibri"/>
              <a:buChar char="-"/>
            </a:pPr>
            <a:r>
              <a:rPr lang="en-US"/>
              <a:t>CarMax is perceived as a successful, innovative player in the used car industry, with some traditional dealerships viewing it as a model to emulate and others seeing it as a competitor that has reshaped consumer expectations.</a:t>
            </a:r>
          </a:p>
          <a:p>
            <a:pPr marL="171450" indent="-171450">
              <a:buFont typeface="Calibri"/>
              <a:buChar char="-"/>
            </a:pPr>
            <a:endParaRPr lang="en-US"/>
          </a:p>
          <a:p>
            <a:endParaRPr lang="en-US"/>
          </a:p>
          <a:p>
            <a:endParaRPr lang="en-US"/>
          </a:p>
        </p:txBody>
      </p:sp>
      <p:sp>
        <p:nvSpPr>
          <p:cNvPr id="4" name="Slide Number Placeholder 3"/>
          <p:cNvSpPr>
            <a:spLocks noGrp="1"/>
          </p:cNvSpPr>
          <p:nvPr>
            <p:ph type="sldNum" sz="quarter" idx="5"/>
          </p:nvPr>
        </p:nvSpPr>
        <p:spPr/>
        <p:txBody>
          <a:bodyPr/>
          <a:lstStyle/>
          <a:p>
            <a:fld id="{74F58EB6-10DA-49BB-9975-7ED65F6540E1}" type="slidenum">
              <a:rPr lang="en-US" smtClean="0"/>
              <a:t>3</a:t>
            </a:fld>
            <a:endParaRPr lang="en-US"/>
          </a:p>
        </p:txBody>
      </p:sp>
    </p:spTree>
    <p:extLst>
      <p:ext uri="{BB962C8B-B14F-4D97-AF65-F5344CB8AC3E}">
        <p14:creationId xmlns:p14="http://schemas.microsoft.com/office/powerpoint/2010/main" val="1930074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Adapting- Carmax was able to accomplish and succeed in a fast changing environment with shifting technology throughout the years. Ex. Carmax created </a:t>
            </a:r>
            <a:r>
              <a:rPr lang="en-US" err="1"/>
              <a:t>created</a:t>
            </a:r>
            <a:r>
              <a:rPr lang="en-US"/>
              <a:t> a seamless, Amazon-style online platform where consumers can browse a centralized inventory of over 50,000 cars.</a:t>
            </a:r>
            <a:endParaRPr lang="en-US">
              <a:latin typeface="Calibri"/>
              <a:ea typeface="Calibri"/>
              <a:cs typeface="Calibri"/>
            </a:endParaRPr>
          </a:p>
          <a:p>
            <a:r>
              <a:rPr lang="en-US">
                <a:latin typeface="Calibri"/>
                <a:ea typeface="Calibri"/>
                <a:cs typeface="Calibri"/>
              </a:rPr>
              <a:t>Communication &amp; Problem solving- Carmax found creative solutions to challenging problems. EX. Carmax enables customers to get prequalified for a loan making the </a:t>
            </a:r>
            <a:r>
              <a:rPr lang="en-US" err="1">
                <a:latin typeface="Calibri"/>
                <a:ea typeface="Calibri"/>
                <a:cs typeface="Calibri"/>
              </a:rPr>
              <a:t>the</a:t>
            </a:r>
            <a:r>
              <a:rPr lang="en-US">
                <a:latin typeface="Calibri"/>
                <a:ea typeface="Calibri"/>
                <a:cs typeface="Calibri"/>
              </a:rPr>
              <a:t> car buying journey less stressful.</a:t>
            </a:r>
          </a:p>
          <a:p>
            <a:r>
              <a:rPr lang="en-US">
                <a:latin typeface="Calibri"/>
                <a:ea typeface="Calibri"/>
                <a:cs typeface="Calibri"/>
              </a:rPr>
              <a:t>Teamwork- Working with a variety of team members to accomplish shared goals. EX . Carmax investing in its employees through its Information technology academy. </a:t>
            </a:r>
          </a:p>
          <a:p>
            <a:r>
              <a:rPr lang="en-US">
                <a:latin typeface="Calibri"/>
                <a:ea typeface="Calibri"/>
                <a:cs typeface="Calibri"/>
              </a:rPr>
              <a:t>Customer satisfaction – enhancing the customer experience by offering user friendly online tools/their mobile app they encouraged positive customer interaction. EX. Carmax is planning to introduce an app to support a loyalty program, creating more engagement and customer satisfaction. </a:t>
            </a:r>
          </a:p>
          <a:p>
            <a:endParaRPr lang="en-US">
              <a:latin typeface="Calibri"/>
              <a:ea typeface="Calibri"/>
              <a:cs typeface="Calibri"/>
            </a:endParaRPr>
          </a:p>
          <a:p>
            <a:endParaRPr lang="en-US">
              <a:latin typeface="Calibri"/>
              <a:ea typeface="Calibri"/>
              <a:cs typeface="Calibri"/>
            </a:endParaRPr>
          </a:p>
          <a:p>
            <a:endParaRPr lang="en-US">
              <a:latin typeface="Calibri"/>
              <a:ea typeface="Calibri"/>
              <a:cs typeface="Calibri"/>
            </a:endParaRP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74F58EB6-10DA-49BB-9975-7ED65F6540E1}" type="slidenum">
              <a:rPr lang="en-US" smtClean="0"/>
              <a:t>6</a:t>
            </a:fld>
            <a:endParaRPr lang="en-US"/>
          </a:p>
        </p:txBody>
      </p:sp>
    </p:spTree>
    <p:extLst>
      <p:ext uri="{BB962C8B-B14F-4D97-AF65-F5344CB8AC3E}">
        <p14:creationId xmlns:p14="http://schemas.microsoft.com/office/powerpoint/2010/main" val="298965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8E639-0CD1-8D29-66F7-E73EDE55EC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D2D88C-C355-BBF1-DFCB-6DCCC47D0F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8CE23A-2428-4BD7-C053-152930FFF985}"/>
              </a:ext>
            </a:extLst>
          </p:cNvPr>
          <p:cNvSpPr>
            <a:spLocks noGrp="1"/>
          </p:cNvSpPr>
          <p:nvPr>
            <p:ph type="dt" sz="half" idx="10"/>
          </p:nvPr>
        </p:nvSpPr>
        <p:spPr/>
        <p:txBody>
          <a:bodyPr/>
          <a:lstStyle/>
          <a:p>
            <a:fld id="{E58B83B7-CCD1-43F2-BFB6-2B82EDFFFC25}" type="datetimeFigureOut">
              <a:rPr lang="en-US" smtClean="0"/>
              <a:t>1/15/2025</a:t>
            </a:fld>
            <a:endParaRPr lang="en-US"/>
          </a:p>
        </p:txBody>
      </p:sp>
      <p:sp>
        <p:nvSpPr>
          <p:cNvPr id="5" name="Footer Placeholder 4">
            <a:extLst>
              <a:ext uri="{FF2B5EF4-FFF2-40B4-BE49-F238E27FC236}">
                <a16:creationId xmlns:a16="http://schemas.microsoft.com/office/drawing/2014/main" id="{CFB0599E-E195-3449-3174-117397BE00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5ADCD4-51EA-3193-3119-A107FE275F76}"/>
              </a:ext>
            </a:extLst>
          </p:cNvPr>
          <p:cNvSpPr>
            <a:spLocks noGrp="1"/>
          </p:cNvSpPr>
          <p:nvPr>
            <p:ph type="sldNum" sz="quarter" idx="12"/>
          </p:nvPr>
        </p:nvSpPr>
        <p:spPr/>
        <p:txBody>
          <a:bodyPr/>
          <a:lstStyle/>
          <a:p>
            <a:fld id="{1E94E214-939E-405E-BEA4-0422E67FCF9B}" type="slidenum">
              <a:rPr lang="en-US" smtClean="0"/>
              <a:t>‹#›</a:t>
            </a:fld>
            <a:endParaRPr lang="en-US"/>
          </a:p>
        </p:txBody>
      </p:sp>
    </p:spTree>
    <p:extLst>
      <p:ext uri="{BB962C8B-B14F-4D97-AF65-F5344CB8AC3E}">
        <p14:creationId xmlns:p14="http://schemas.microsoft.com/office/powerpoint/2010/main" val="4049480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B832C-C6FA-BF77-C7E7-DFCEA9C97B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F05581-2229-274E-5E8D-562DE0398F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89931E-EA21-F8E6-C2E0-DF8246333318}"/>
              </a:ext>
            </a:extLst>
          </p:cNvPr>
          <p:cNvSpPr>
            <a:spLocks noGrp="1"/>
          </p:cNvSpPr>
          <p:nvPr>
            <p:ph type="dt" sz="half" idx="10"/>
          </p:nvPr>
        </p:nvSpPr>
        <p:spPr/>
        <p:txBody>
          <a:bodyPr/>
          <a:lstStyle/>
          <a:p>
            <a:fld id="{E58B83B7-CCD1-43F2-BFB6-2B82EDFFFC25}" type="datetimeFigureOut">
              <a:rPr lang="en-US" smtClean="0"/>
              <a:t>1/15/2025</a:t>
            </a:fld>
            <a:endParaRPr lang="en-US"/>
          </a:p>
        </p:txBody>
      </p:sp>
      <p:sp>
        <p:nvSpPr>
          <p:cNvPr id="5" name="Footer Placeholder 4">
            <a:extLst>
              <a:ext uri="{FF2B5EF4-FFF2-40B4-BE49-F238E27FC236}">
                <a16:creationId xmlns:a16="http://schemas.microsoft.com/office/drawing/2014/main" id="{77F1FA97-8977-C4F9-5FDA-D01F56D959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961971-95EA-E3CC-31F3-ECF359959B57}"/>
              </a:ext>
            </a:extLst>
          </p:cNvPr>
          <p:cNvSpPr>
            <a:spLocks noGrp="1"/>
          </p:cNvSpPr>
          <p:nvPr>
            <p:ph type="sldNum" sz="quarter" idx="12"/>
          </p:nvPr>
        </p:nvSpPr>
        <p:spPr/>
        <p:txBody>
          <a:bodyPr/>
          <a:lstStyle/>
          <a:p>
            <a:fld id="{1E94E214-939E-405E-BEA4-0422E67FCF9B}" type="slidenum">
              <a:rPr lang="en-US" smtClean="0"/>
              <a:t>‹#›</a:t>
            </a:fld>
            <a:endParaRPr lang="en-US"/>
          </a:p>
        </p:txBody>
      </p:sp>
    </p:spTree>
    <p:extLst>
      <p:ext uri="{BB962C8B-B14F-4D97-AF65-F5344CB8AC3E}">
        <p14:creationId xmlns:p14="http://schemas.microsoft.com/office/powerpoint/2010/main" val="669235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7A5B5-4C45-C883-4A6C-A1E6DB6B02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E7281C-1744-B509-A6B3-C547DF61C3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C66C68-0F6C-8DF4-F9DA-9F9A43605179}"/>
              </a:ext>
            </a:extLst>
          </p:cNvPr>
          <p:cNvSpPr>
            <a:spLocks noGrp="1"/>
          </p:cNvSpPr>
          <p:nvPr>
            <p:ph type="dt" sz="half" idx="10"/>
          </p:nvPr>
        </p:nvSpPr>
        <p:spPr/>
        <p:txBody>
          <a:bodyPr/>
          <a:lstStyle/>
          <a:p>
            <a:fld id="{E58B83B7-CCD1-43F2-BFB6-2B82EDFFFC25}" type="datetimeFigureOut">
              <a:rPr lang="en-US" smtClean="0"/>
              <a:t>1/15/2025</a:t>
            </a:fld>
            <a:endParaRPr lang="en-US"/>
          </a:p>
        </p:txBody>
      </p:sp>
      <p:sp>
        <p:nvSpPr>
          <p:cNvPr id="5" name="Footer Placeholder 4">
            <a:extLst>
              <a:ext uri="{FF2B5EF4-FFF2-40B4-BE49-F238E27FC236}">
                <a16:creationId xmlns:a16="http://schemas.microsoft.com/office/drawing/2014/main" id="{A9E90B32-C4CD-B459-2EF1-306714C85E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2111AC-915A-516E-7CA3-D3306DF38A74}"/>
              </a:ext>
            </a:extLst>
          </p:cNvPr>
          <p:cNvSpPr>
            <a:spLocks noGrp="1"/>
          </p:cNvSpPr>
          <p:nvPr>
            <p:ph type="sldNum" sz="quarter" idx="12"/>
          </p:nvPr>
        </p:nvSpPr>
        <p:spPr/>
        <p:txBody>
          <a:bodyPr/>
          <a:lstStyle/>
          <a:p>
            <a:fld id="{1E94E214-939E-405E-BEA4-0422E67FCF9B}" type="slidenum">
              <a:rPr lang="en-US" smtClean="0"/>
              <a:t>‹#›</a:t>
            </a:fld>
            <a:endParaRPr lang="en-US"/>
          </a:p>
        </p:txBody>
      </p:sp>
    </p:spTree>
    <p:extLst>
      <p:ext uri="{BB962C8B-B14F-4D97-AF65-F5344CB8AC3E}">
        <p14:creationId xmlns:p14="http://schemas.microsoft.com/office/powerpoint/2010/main" val="3945344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109F3-EACB-70A9-D1A9-984E617AAC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7B000F-4DC0-5894-77F4-24E810F1E2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81B88C-3928-F038-C865-9EEADD5F6C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419F85-E8B4-9D83-AAF4-6D35FE39C2C7}"/>
              </a:ext>
            </a:extLst>
          </p:cNvPr>
          <p:cNvSpPr>
            <a:spLocks noGrp="1"/>
          </p:cNvSpPr>
          <p:nvPr>
            <p:ph type="dt" sz="half" idx="10"/>
          </p:nvPr>
        </p:nvSpPr>
        <p:spPr/>
        <p:txBody>
          <a:bodyPr/>
          <a:lstStyle/>
          <a:p>
            <a:fld id="{E58B83B7-CCD1-43F2-BFB6-2B82EDFFFC25}" type="datetimeFigureOut">
              <a:rPr lang="en-US" smtClean="0"/>
              <a:t>1/15/2025</a:t>
            </a:fld>
            <a:endParaRPr lang="en-US"/>
          </a:p>
        </p:txBody>
      </p:sp>
      <p:sp>
        <p:nvSpPr>
          <p:cNvPr id="6" name="Footer Placeholder 5">
            <a:extLst>
              <a:ext uri="{FF2B5EF4-FFF2-40B4-BE49-F238E27FC236}">
                <a16:creationId xmlns:a16="http://schemas.microsoft.com/office/drawing/2014/main" id="{F1DCFC3D-B513-7B02-73A4-C32C074FF8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F037A8-ACE8-F199-CE3C-1CF5B04AB6E9}"/>
              </a:ext>
            </a:extLst>
          </p:cNvPr>
          <p:cNvSpPr>
            <a:spLocks noGrp="1"/>
          </p:cNvSpPr>
          <p:nvPr>
            <p:ph type="sldNum" sz="quarter" idx="12"/>
          </p:nvPr>
        </p:nvSpPr>
        <p:spPr/>
        <p:txBody>
          <a:bodyPr/>
          <a:lstStyle/>
          <a:p>
            <a:fld id="{1E94E214-939E-405E-BEA4-0422E67FCF9B}" type="slidenum">
              <a:rPr lang="en-US" smtClean="0"/>
              <a:t>‹#›</a:t>
            </a:fld>
            <a:endParaRPr lang="en-US"/>
          </a:p>
        </p:txBody>
      </p:sp>
    </p:spTree>
    <p:extLst>
      <p:ext uri="{BB962C8B-B14F-4D97-AF65-F5344CB8AC3E}">
        <p14:creationId xmlns:p14="http://schemas.microsoft.com/office/powerpoint/2010/main" val="3786783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5B5A0-1194-6848-F6CD-A3CA664AD4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176DA9-B583-4489-308C-9001CA8253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92E95F-03D4-C759-D7CC-ACA88F5E48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05838D-76A9-1C2C-431D-DC2517CAC0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F66702-D22A-C07A-ADE7-0AB6EB99FD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65A52B-85F0-5321-5B5E-80671517A5E8}"/>
              </a:ext>
            </a:extLst>
          </p:cNvPr>
          <p:cNvSpPr>
            <a:spLocks noGrp="1"/>
          </p:cNvSpPr>
          <p:nvPr>
            <p:ph type="dt" sz="half" idx="10"/>
          </p:nvPr>
        </p:nvSpPr>
        <p:spPr/>
        <p:txBody>
          <a:bodyPr/>
          <a:lstStyle/>
          <a:p>
            <a:fld id="{E58B83B7-CCD1-43F2-BFB6-2B82EDFFFC25}" type="datetimeFigureOut">
              <a:rPr lang="en-US" smtClean="0"/>
              <a:t>1/15/2025</a:t>
            </a:fld>
            <a:endParaRPr lang="en-US"/>
          </a:p>
        </p:txBody>
      </p:sp>
      <p:sp>
        <p:nvSpPr>
          <p:cNvPr id="8" name="Footer Placeholder 7">
            <a:extLst>
              <a:ext uri="{FF2B5EF4-FFF2-40B4-BE49-F238E27FC236}">
                <a16:creationId xmlns:a16="http://schemas.microsoft.com/office/drawing/2014/main" id="{7F97CBBC-1C49-1CCF-082B-F9A2588356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2DD642-AF1D-8FE3-93DB-B5208D8CE0E4}"/>
              </a:ext>
            </a:extLst>
          </p:cNvPr>
          <p:cNvSpPr>
            <a:spLocks noGrp="1"/>
          </p:cNvSpPr>
          <p:nvPr>
            <p:ph type="sldNum" sz="quarter" idx="12"/>
          </p:nvPr>
        </p:nvSpPr>
        <p:spPr/>
        <p:txBody>
          <a:bodyPr/>
          <a:lstStyle/>
          <a:p>
            <a:fld id="{1E94E214-939E-405E-BEA4-0422E67FCF9B}" type="slidenum">
              <a:rPr lang="en-US" smtClean="0"/>
              <a:t>‹#›</a:t>
            </a:fld>
            <a:endParaRPr lang="en-US"/>
          </a:p>
        </p:txBody>
      </p:sp>
    </p:spTree>
    <p:extLst>
      <p:ext uri="{BB962C8B-B14F-4D97-AF65-F5344CB8AC3E}">
        <p14:creationId xmlns:p14="http://schemas.microsoft.com/office/powerpoint/2010/main" val="3126747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6679C-F9C6-C2D0-EAB1-EEFBD658D9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07E702-35D4-AB1A-86DA-7AF8EC172B9B}"/>
              </a:ext>
            </a:extLst>
          </p:cNvPr>
          <p:cNvSpPr>
            <a:spLocks noGrp="1"/>
          </p:cNvSpPr>
          <p:nvPr>
            <p:ph type="dt" sz="half" idx="10"/>
          </p:nvPr>
        </p:nvSpPr>
        <p:spPr/>
        <p:txBody>
          <a:bodyPr/>
          <a:lstStyle/>
          <a:p>
            <a:fld id="{E58B83B7-CCD1-43F2-BFB6-2B82EDFFFC25}" type="datetimeFigureOut">
              <a:rPr lang="en-US" smtClean="0"/>
              <a:t>1/15/2025</a:t>
            </a:fld>
            <a:endParaRPr lang="en-US"/>
          </a:p>
        </p:txBody>
      </p:sp>
      <p:sp>
        <p:nvSpPr>
          <p:cNvPr id="4" name="Footer Placeholder 3">
            <a:extLst>
              <a:ext uri="{FF2B5EF4-FFF2-40B4-BE49-F238E27FC236}">
                <a16:creationId xmlns:a16="http://schemas.microsoft.com/office/drawing/2014/main" id="{421BAD6B-BE5F-E44C-03C4-E92BDE3468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26D0AF-2350-EC47-46B8-E97EDFEEC083}"/>
              </a:ext>
            </a:extLst>
          </p:cNvPr>
          <p:cNvSpPr>
            <a:spLocks noGrp="1"/>
          </p:cNvSpPr>
          <p:nvPr>
            <p:ph type="sldNum" sz="quarter" idx="12"/>
          </p:nvPr>
        </p:nvSpPr>
        <p:spPr/>
        <p:txBody>
          <a:bodyPr/>
          <a:lstStyle/>
          <a:p>
            <a:fld id="{1E94E214-939E-405E-BEA4-0422E67FCF9B}" type="slidenum">
              <a:rPr lang="en-US" smtClean="0"/>
              <a:t>‹#›</a:t>
            </a:fld>
            <a:endParaRPr lang="en-US"/>
          </a:p>
        </p:txBody>
      </p:sp>
    </p:spTree>
    <p:extLst>
      <p:ext uri="{BB962C8B-B14F-4D97-AF65-F5344CB8AC3E}">
        <p14:creationId xmlns:p14="http://schemas.microsoft.com/office/powerpoint/2010/main" val="3091367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AF9A57-2968-CDCD-40FB-A833AF94E237}"/>
              </a:ext>
            </a:extLst>
          </p:cNvPr>
          <p:cNvSpPr>
            <a:spLocks noGrp="1"/>
          </p:cNvSpPr>
          <p:nvPr>
            <p:ph type="dt" sz="half" idx="10"/>
          </p:nvPr>
        </p:nvSpPr>
        <p:spPr/>
        <p:txBody>
          <a:bodyPr/>
          <a:lstStyle/>
          <a:p>
            <a:fld id="{E58B83B7-CCD1-43F2-BFB6-2B82EDFFFC25}" type="datetimeFigureOut">
              <a:rPr lang="en-US" smtClean="0"/>
              <a:t>1/15/2025</a:t>
            </a:fld>
            <a:endParaRPr lang="en-US"/>
          </a:p>
        </p:txBody>
      </p:sp>
      <p:sp>
        <p:nvSpPr>
          <p:cNvPr id="3" name="Footer Placeholder 2">
            <a:extLst>
              <a:ext uri="{FF2B5EF4-FFF2-40B4-BE49-F238E27FC236}">
                <a16:creationId xmlns:a16="http://schemas.microsoft.com/office/drawing/2014/main" id="{5C2924C8-3507-D3D4-D4AC-EC531C415A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77E99B-138A-25A6-8300-234F8BC06C4C}"/>
              </a:ext>
            </a:extLst>
          </p:cNvPr>
          <p:cNvSpPr>
            <a:spLocks noGrp="1"/>
          </p:cNvSpPr>
          <p:nvPr>
            <p:ph type="sldNum" sz="quarter" idx="12"/>
          </p:nvPr>
        </p:nvSpPr>
        <p:spPr/>
        <p:txBody>
          <a:bodyPr/>
          <a:lstStyle/>
          <a:p>
            <a:fld id="{1E94E214-939E-405E-BEA4-0422E67FCF9B}" type="slidenum">
              <a:rPr lang="en-US" smtClean="0"/>
              <a:t>‹#›</a:t>
            </a:fld>
            <a:endParaRPr lang="en-US"/>
          </a:p>
        </p:txBody>
      </p:sp>
    </p:spTree>
    <p:extLst>
      <p:ext uri="{BB962C8B-B14F-4D97-AF65-F5344CB8AC3E}">
        <p14:creationId xmlns:p14="http://schemas.microsoft.com/office/powerpoint/2010/main" val="4239792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720DA-C00E-7D54-C30A-45616BB70D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BBD2C3-10F4-3DF1-290F-BF8E0E5799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3D28D4-1ABC-F48A-B2F1-109FF2B186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A8B846-9AD2-8F52-7A30-F428703CE9E4}"/>
              </a:ext>
            </a:extLst>
          </p:cNvPr>
          <p:cNvSpPr>
            <a:spLocks noGrp="1"/>
          </p:cNvSpPr>
          <p:nvPr>
            <p:ph type="dt" sz="half" idx="10"/>
          </p:nvPr>
        </p:nvSpPr>
        <p:spPr/>
        <p:txBody>
          <a:bodyPr/>
          <a:lstStyle/>
          <a:p>
            <a:fld id="{E58B83B7-CCD1-43F2-BFB6-2B82EDFFFC25}" type="datetimeFigureOut">
              <a:rPr lang="en-US" smtClean="0"/>
              <a:t>1/15/2025</a:t>
            </a:fld>
            <a:endParaRPr lang="en-US"/>
          </a:p>
        </p:txBody>
      </p:sp>
      <p:sp>
        <p:nvSpPr>
          <p:cNvPr id="6" name="Footer Placeholder 5">
            <a:extLst>
              <a:ext uri="{FF2B5EF4-FFF2-40B4-BE49-F238E27FC236}">
                <a16:creationId xmlns:a16="http://schemas.microsoft.com/office/drawing/2014/main" id="{3C036BC3-E379-654A-080C-212259FB24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02702A-7686-B7E5-CF6C-B48318130C2C}"/>
              </a:ext>
            </a:extLst>
          </p:cNvPr>
          <p:cNvSpPr>
            <a:spLocks noGrp="1"/>
          </p:cNvSpPr>
          <p:nvPr>
            <p:ph type="sldNum" sz="quarter" idx="12"/>
          </p:nvPr>
        </p:nvSpPr>
        <p:spPr/>
        <p:txBody>
          <a:bodyPr/>
          <a:lstStyle/>
          <a:p>
            <a:fld id="{1E94E214-939E-405E-BEA4-0422E67FCF9B}" type="slidenum">
              <a:rPr lang="en-US" smtClean="0"/>
              <a:t>‹#›</a:t>
            </a:fld>
            <a:endParaRPr lang="en-US"/>
          </a:p>
        </p:txBody>
      </p:sp>
    </p:spTree>
    <p:extLst>
      <p:ext uri="{BB962C8B-B14F-4D97-AF65-F5344CB8AC3E}">
        <p14:creationId xmlns:p14="http://schemas.microsoft.com/office/powerpoint/2010/main" val="1666970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FC8FF-2876-6F71-2040-AB12DF82EC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1ABD62-05E5-D571-45B8-F79572A83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C179CB-2082-5DA9-0004-712C7F5A2A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EB41EC-2F6B-E81B-A4E2-29B2903A20AE}"/>
              </a:ext>
            </a:extLst>
          </p:cNvPr>
          <p:cNvSpPr>
            <a:spLocks noGrp="1"/>
          </p:cNvSpPr>
          <p:nvPr>
            <p:ph type="dt" sz="half" idx="10"/>
          </p:nvPr>
        </p:nvSpPr>
        <p:spPr/>
        <p:txBody>
          <a:bodyPr/>
          <a:lstStyle/>
          <a:p>
            <a:fld id="{E58B83B7-CCD1-43F2-BFB6-2B82EDFFFC25}" type="datetimeFigureOut">
              <a:rPr lang="en-US" smtClean="0"/>
              <a:t>1/15/2025</a:t>
            </a:fld>
            <a:endParaRPr lang="en-US"/>
          </a:p>
        </p:txBody>
      </p:sp>
      <p:sp>
        <p:nvSpPr>
          <p:cNvPr id="6" name="Footer Placeholder 5">
            <a:extLst>
              <a:ext uri="{FF2B5EF4-FFF2-40B4-BE49-F238E27FC236}">
                <a16:creationId xmlns:a16="http://schemas.microsoft.com/office/drawing/2014/main" id="{1A77A511-0902-84A2-84D0-9DFA580C74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87AC25-13C1-3691-1833-31E863A4414D}"/>
              </a:ext>
            </a:extLst>
          </p:cNvPr>
          <p:cNvSpPr>
            <a:spLocks noGrp="1"/>
          </p:cNvSpPr>
          <p:nvPr>
            <p:ph type="sldNum" sz="quarter" idx="12"/>
          </p:nvPr>
        </p:nvSpPr>
        <p:spPr/>
        <p:txBody>
          <a:bodyPr/>
          <a:lstStyle/>
          <a:p>
            <a:fld id="{1E94E214-939E-405E-BEA4-0422E67FCF9B}" type="slidenum">
              <a:rPr lang="en-US" smtClean="0"/>
              <a:t>‹#›</a:t>
            </a:fld>
            <a:endParaRPr lang="en-US"/>
          </a:p>
        </p:txBody>
      </p:sp>
    </p:spTree>
    <p:extLst>
      <p:ext uri="{BB962C8B-B14F-4D97-AF65-F5344CB8AC3E}">
        <p14:creationId xmlns:p14="http://schemas.microsoft.com/office/powerpoint/2010/main" val="393335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2F7E4-FAA7-9672-48A3-96C707E664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6CA423-9E6D-E611-50CA-907B19C9E5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92287C-E811-5442-1403-72B99025956E}"/>
              </a:ext>
            </a:extLst>
          </p:cNvPr>
          <p:cNvSpPr>
            <a:spLocks noGrp="1"/>
          </p:cNvSpPr>
          <p:nvPr>
            <p:ph type="dt" sz="half" idx="10"/>
          </p:nvPr>
        </p:nvSpPr>
        <p:spPr/>
        <p:txBody>
          <a:bodyPr/>
          <a:lstStyle/>
          <a:p>
            <a:fld id="{E58B83B7-CCD1-43F2-BFB6-2B82EDFFFC25}" type="datetimeFigureOut">
              <a:rPr lang="en-US" smtClean="0"/>
              <a:t>1/15/2025</a:t>
            </a:fld>
            <a:endParaRPr lang="en-US"/>
          </a:p>
        </p:txBody>
      </p:sp>
      <p:sp>
        <p:nvSpPr>
          <p:cNvPr id="5" name="Footer Placeholder 4">
            <a:extLst>
              <a:ext uri="{FF2B5EF4-FFF2-40B4-BE49-F238E27FC236}">
                <a16:creationId xmlns:a16="http://schemas.microsoft.com/office/drawing/2014/main" id="{FD003C6A-8B53-1CC8-4639-BB04F48E6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49DC42-3474-63DD-6A3F-6E96E658588D}"/>
              </a:ext>
            </a:extLst>
          </p:cNvPr>
          <p:cNvSpPr>
            <a:spLocks noGrp="1"/>
          </p:cNvSpPr>
          <p:nvPr>
            <p:ph type="sldNum" sz="quarter" idx="12"/>
          </p:nvPr>
        </p:nvSpPr>
        <p:spPr/>
        <p:txBody>
          <a:bodyPr/>
          <a:lstStyle/>
          <a:p>
            <a:fld id="{1E94E214-939E-405E-BEA4-0422E67FCF9B}" type="slidenum">
              <a:rPr lang="en-US" smtClean="0"/>
              <a:t>‹#›</a:t>
            </a:fld>
            <a:endParaRPr lang="en-US"/>
          </a:p>
        </p:txBody>
      </p:sp>
    </p:spTree>
    <p:extLst>
      <p:ext uri="{BB962C8B-B14F-4D97-AF65-F5344CB8AC3E}">
        <p14:creationId xmlns:p14="http://schemas.microsoft.com/office/powerpoint/2010/main" val="659624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9ACDFA-2264-F0D4-E448-F7C5A56D0E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021223-1EEF-9987-3CC6-27576E0436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33B118-BE8B-CA73-B40C-A23CB2A80D23}"/>
              </a:ext>
            </a:extLst>
          </p:cNvPr>
          <p:cNvSpPr>
            <a:spLocks noGrp="1"/>
          </p:cNvSpPr>
          <p:nvPr>
            <p:ph type="dt" sz="half" idx="10"/>
          </p:nvPr>
        </p:nvSpPr>
        <p:spPr/>
        <p:txBody>
          <a:bodyPr/>
          <a:lstStyle/>
          <a:p>
            <a:fld id="{E58B83B7-CCD1-43F2-BFB6-2B82EDFFFC25}" type="datetimeFigureOut">
              <a:rPr lang="en-US" smtClean="0"/>
              <a:t>1/15/2025</a:t>
            </a:fld>
            <a:endParaRPr lang="en-US"/>
          </a:p>
        </p:txBody>
      </p:sp>
      <p:sp>
        <p:nvSpPr>
          <p:cNvPr id="5" name="Footer Placeholder 4">
            <a:extLst>
              <a:ext uri="{FF2B5EF4-FFF2-40B4-BE49-F238E27FC236}">
                <a16:creationId xmlns:a16="http://schemas.microsoft.com/office/drawing/2014/main" id="{FBABB637-C191-7C51-5A65-453E0263A8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5AEA-D9ED-2FF5-428A-8834DBAEC85A}"/>
              </a:ext>
            </a:extLst>
          </p:cNvPr>
          <p:cNvSpPr>
            <a:spLocks noGrp="1"/>
          </p:cNvSpPr>
          <p:nvPr>
            <p:ph type="sldNum" sz="quarter" idx="12"/>
          </p:nvPr>
        </p:nvSpPr>
        <p:spPr/>
        <p:txBody>
          <a:bodyPr/>
          <a:lstStyle/>
          <a:p>
            <a:fld id="{1E94E214-939E-405E-BEA4-0422E67FCF9B}" type="slidenum">
              <a:rPr lang="en-US" smtClean="0"/>
              <a:t>‹#›</a:t>
            </a:fld>
            <a:endParaRPr lang="en-US"/>
          </a:p>
        </p:txBody>
      </p:sp>
    </p:spTree>
    <p:extLst>
      <p:ext uri="{BB962C8B-B14F-4D97-AF65-F5344CB8AC3E}">
        <p14:creationId xmlns:p14="http://schemas.microsoft.com/office/powerpoint/2010/main" val="3985484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D30762-CAEF-6A67-9E0B-5FC310E435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DD9B41-5559-ED03-09F3-49D3739BBA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3E91FE-1729-2CE1-6B97-FFF663A458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8B83B7-CCD1-43F2-BFB6-2B82EDFFFC25}" type="datetimeFigureOut">
              <a:rPr lang="en-US" smtClean="0"/>
              <a:t>1/15/2025</a:t>
            </a:fld>
            <a:endParaRPr lang="en-US"/>
          </a:p>
        </p:txBody>
      </p:sp>
      <p:sp>
        <p:nvSpPr>
          <p:cNvPr id="5" name="Footer Placeholder 4">
            <a:extLst>
              <a:ext uri="{FF2B5EF4-FFF2-40B4-BE49-F238E27FC236}">
                <a16:creationId xmlns:a16="http://schemas.microsoft.com/office/drawing/2014/main" id="{DC844D3B-7841-A38C-D32F-00D84FDBAD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B09B226-F0E3-AA00-ACD7-F5E3AD40E3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94E214-939E-405E-BEA4-0422E67FCF9B}" type="slidenum">
              <a:rPr lang="en-US" smtClean="0"/>
              <a:t>‹#›</a:t>
            </a:fld>
            <a:endParaRPr lang="en-US"/>
          </a:p>
        </p:txBody>
      </p:sp>
    </p:spTree>
    <p:extLst>
      <p:ext uri="{BB962C8B-B14F-4D97-AF65-F5344CB8AC3E}">
        <p14:creationId xmlns:p14="http://schemas.microsoft.com/office/powerpoint/2010/main" val="2931410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8.sv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platform.virdocs.com/read/2415989/19/#/4/2[WEMUCRAFBQHYVX0M3094]/18[BGHR8REWTKLV0LPDK839]/6[PWLUGXNNTSB03T9ZU149]/2/4/16[ZKYZCMVNDANV3U33D632],/1:618,/1:618" TargetMode="External"/><Relationship Id="rId3" Type="http://schemas.openxmlformats.org/officeDocument/2006/relationships/hyperlink" Target="http://s21.g4cdn.com/483767183/files/doc" TargetMode="External"/><Relationship Id="rId7" Type="http://schemas.openxmlformats.org/officeDocument/2006/relationships/hyperlink" Target="http://webcore.cs.vt.edu/files/css/CarMax%20-%20IT%20Software%20Developer.pdf" TargetMode="External"/><Relationship Id="rId2" Type="http://schemas.openxmlformats.org/officeDocument/2006/relationships/hyperlink" Target="http://investors.carmax.com/home/default.aspx" TargetMode="External"/><Relationship Id="rId1" Type="http://schemas.openxmlformats.org/officeDocument/2006/relationships/slideLayout" Target="../slideLayouts/slideLayout2.xml"/><Relationship Id="rId6" Type="http://schemas.openxmlformats.org/officeDocument/2006/relationships/hyperlink" Target="http://automotive.cioreview.com/cioviewpoint/carmax-the-automobile-business-with-it-at-the-core--nid-12777-cid-4.html" TargetMode="External"/><Relationship Id="rId5" Type="http://schemas.openxmlformats.org/officeDocument/2006/relationships/hyperlink" Target="https://digiday.com/marketing/not-google-carmax-trying" TargetMode="External"/><Relationship Id="rId4" Type="http://schemas.openxmlformats.org/officeDocument/2006/relationships/hyperlink" Target="http://www.cio.com/article/3191884/careers-staffing/why-carmax-s-shock-the-system-digital-strategy-is-working.html" TargetMode="External"/><Relationship Id="rId9" Type="http://schemas.openxmlformats.org/officeDocument/2006/relationships/hyperlink" Target="https://www.carmax.com/why-carmax"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1B3E20-E2B8-1CD3-4779-3B9392634B81}"/>
              </a:ext>
            </a:extLst>
          </p:cNvPr>
          <p:cNvSpPr>
            <a:spLocks noGrp="1"/>
          </p:cNvSpPr>
          <p:nvPr>
            <p:ph type="ctrTitle"/>
          </p:nvPr>
        </p:nvSpPr>
        <p:spPr>
          <a:xfrm>
            <a:off x="1386865" y="818984"/>
            <a:ext cx="6596245" cy="3268520"/>
          </a:xfrm>
        </p:spPr>
        <p:txBody>
          <a:bodyPr>
            <a:normAutofit/>
          </a:bodyPr>
          <a:lstStyle/>
          <a:p>
            <a:pPr algn="r"/>
            <a:r>
              <a:rPr lang="en-US" sz="4800">
                <a:solidFill>
                  <a:srgbClr val="FFFFFF"/>
                </a:solidFill>
              </a:rPr>
              <a:t>Case Study #1: Customer-Focused Innovation Drives CarMax</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BA9813FD-4267-56CA-E745-0652FE94AEB0}"/>
              </a:ext>
            </a:extLst>
          </p:cNvPr>
          <p:cNvSpPr>
            <a:spLocks noGrp="1"/>
          </p:cNvSpPr>
          <p:nvPr>
            <p:ph type="subTitle" idx="1"/>
          </p:nvPr>
        </p:nvSpPr>
        <p:spPr>
          <a:xfrm>
            <a:off x="1931874" y="4797188"/>
            <a:ext cx="6051236" cy="1241828"/>
          </a:xfrm>
        </p:spPr>
        <p:txBody>
          <a:bodyPr vert="horz" lIns="91440" tIns="45720" rIns="91440" bIns="45720" rtlCol="0" anchor="t">
            <a:normAutofit/>
          </a:bodyPr>
          <a:lstStyle/>
          <a:p>
            <a:pPr algn="r"/>
            <a:r>
              <a:rPr lang="en-US" sz="1500">
                <a:solidFill>
                  <a:srgbClr val="FFFFFF"/>
                </a:solidFill>
              </a:rPr>
              <a:t>ITI-3600 Info Systems In Business</a:t>
            </a:r>
          </a:p>
          <a:p>
            <a:pPr algn="r"/>
            <a:r>
              <a:rPr lang="en-US" sz="1500">
                <a:solidFill>
                  <a:srgbClr val="FFFFFF"/>
                </a:solidFill>
              </a:rPr>
              <a:t>Dr. J. Jinnette</a:t>
            </a:r>
          </a:p>
          <a:p>
            <a:pPr algn="r"/>
            <a:r>
              <a:rPr lang="en-US" sz="1500">
                <a:solidFill>
                  <a:srgbClr val="FFFFFF"/>
                </a:solidFill>
              </a:rPr>
              <a:t>Presented By: Cheyenne Conner, Yuritzi Ocampo, and Leslie Velazquez</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3491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4EF5DE-219A-1BBB-2399-CEBCA0C6A4D9}"/>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Overview of case- Rebekah Conner</a:t>
            </a:r>
          </a:p>
        </p:txBody>
      </p:sp>
      <p:graphicFrame>
        <p:nvGraphicFramePr>
          <p:cNvPr id="5" name="Content Placeholder 2">
            <a:extLst>
              <a:ext uri="{FF2B5EF4-FFF2-40B4-BE49-F238E27FC236}">
                <a16:creationId xmlns:a16="http://schemas.microsoft.com/office/drawing/2014/main" id="{AF43CC10-AAC8-0AAE-D063-158BAEE84E78}"/>
              </a:ext>
            </a:extLst>
          </p:cNvPr>
          <p:cNvGraphicFramePr>
            <a:graphicFrameLocks noGrp="1"/>
          </p:cNvGraphicFramePr>
          <p:nvPr>
            <p:ph idx="1"/>
            <p:extLst>
              <p:ext uri="{D42A27DB-BD31-4B8C-83A1-F6EECF244321}">
                <p14:modId xmlns:p14="http://schemas.microsoft.com/office/powerpoint/2010/main" val="235687291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41919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766FD3-0EDB-D624-7AC4-AA38D19C511C}"/>
              </a:ext>
            </a:extLst>
          </p:cNvPr>
          <p:cNvSpPr>
            <a:spLocks noGrp="1"/>
          </p:cNvSpPr>
          <p:nvPr>
            <p:ph type="title"/>
          </p:nvPr>
        </p:nvSpPr>
        <p:spPr>
          <a:xfrm>
            <a:off x="2197101" y="735283"/>
            <a:ext cx="4978399" cy="3165045"/>
          </a:xfrm>
        </p:spPr>
        <p:txBody>
          <a:bodyPr vert="horz" lIns="91440" tIns="45720" rIns="91440" bIns="45720" rtlCol="0" anchor="b">
            <a:normAutofit/>
          </a:bodyPr>
          <a:lstStyle/>
          <a:p>
            <a:r>
              <a:rPr lang="en-US" sz="5200" kern="1200">
                <a:latin typeface="+mj-lt"/>
                <a:ea typeface="+mj-ea"/>
                <a:cs typeface="+mj-cs"/>
              </a:rPr>
              <a:t>Case </a:t>
            </a:r>
            <a:r>
              <a:rPr lang="en-US" sz="5200"/>
              <a:t>Question</a:t>
            </a:r>
            <a:endParaRPr lang="en-US" sz="5200" kern="120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E0875E83-EC80-ADDF-F30A-E022B250A612}"/>
              </a:ext>
            </a:extLst>
          </p:cNvPr>
          <p:cNvSpPr>
            <a:spLocks noGrp="1"/>
          </p:cNvSpPr>
          <p:nvPr>
            <p:ph idx="1"/>
          </p:nvPr>
        </p:nvSpPr>
        <p:spPr>
          <a:xfrm>
            <a:off x="2197101" y="4078423"/>
            <a:ext cx="4978399" cy="2058657"/>
          </a:xfrm>
        </p:spPr>
        <p:txBody>
          <a:bodyPr vert="horz" lIns="91440" tIns="45720" rIns="91440" bIns="45720" rtlCol="0">
            <a:normAutofit/>
          </a:bodyPr>
          <a:lstStyle/>
          <a:p>
            <a:pPr marL="0" indent="0">
              <a:buNone/>
            </a:pPr>
            <a:r>
              <a:rPr lang="en-US" sz="2400" kern="1200">
                <a:solidFill>
                  <a:schemeClr val="tx1"/>
                </a:solidFill>
                <a:latin typeface="+mn-lt"/>
                <a:ea typeface="+mn-ea"/>
                <a:cs typeface="+mn-cs"/>
              </a:rPr>
              <a:t>How do you think the CarMax IS organization is perceived by the rest of the organization?</a:t>
            </a:r>
          </a:p>
        </p:txBody>
      </p:sp>
      <p:pic>
        <p:nvPicPr>
          <p:cNvPr id="7" name="Graphic 6" descr="Questions">
            <a:extLst>
              <a:ext uri="{FF2B5EF4-FFF2-40B4-BE49-F238E27FC236}">
                <a16:creationId xmlns:a16="http://schemas.microsoft.com/office/drawing/2014/main" id="{E7566AD7-8EA3-5D01-2E2C-A9D311DBE7E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7549" y="2776619"/>
            <a:ext cx="1289051" cy="1289051"/>
          </a:xfrm>
          <a:prstGeom prst="rect">
            <a:avLst/>
          </a:prstGeom>
        </p:spPr>
      </p:pic>
      <p:pic>
        <p:nvPicPr>
          <p:cNvPr id="9" name="Graphic 8" descr="Questions">
            <a:extLst>
              <a:ext uri="{FF2B5EF4-FFF2-40B4-BE49-F238E27FC236}">
                <a16:creationId xmlns:a16="http://schemas.microsoft.com/office/drawing/2014/main" id="{F6CFF26C-1F77-45AD-BB3B-7B3A42A8DDE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1537083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25D43A-7B7D-25DD-5E9F-D98568365C42}"/>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Question Continued</a:t>
            </a:r>
          </a:p>
        </p:txBody>
      </p:sp>
      <p:sp>
        <p:nvSpPr>
          <p:cNvPr id="3" name="Content Placeholder 2">
            <a:extLst>
              <a:ext uri="{FF2B5EF4-FFF2-40B4-BE49-F238E27FC236}">
                <a16:creationId xmlns:a16="http://schemas.microsoft.com/office/drawing/2014/main" id="{55B34DA8-55C6-9775-D32B-09D4B1AE0F71}"/>
              </a:ext>
            </a:extLst>
          </p:cNvPr>
          <p:cNvSpPr>
            <a:spLocks noGrp="1"/>
          </p:cNvSpPr>
          <p:nvPr>
            <p:ph idx="1"/>
          </p:nvPr>
        </p:nvSpPr>
        <p:spPr>
          <a:xfrm>
            <a:off x="1371599" y="2318197"/>
            <a:ext cx="9724031" cy="3683358"/>
          </a:xfrm>
        </p:spPr>
        <p:txBody>
          <a:bodyPr anchor="ctr">
            <a:normAutofit lnSpcReduction="10000"/>
          </a:bodyPr>
          <a:lstStyle/>
          <a:p>
            <a:r>
              <a:rPr lang="en-US" sz="2000"/>
              <a:t>Innovative retail model</a:t>
            </a:r>
            <a:endParaRPr lang="en-US" sz="2000">
              <a:solidFill>
                <a:srgbClr val="444444"/>
              </a:solidFill>
            </a:endParaRPr>
          </a:p>
          <a:p>
            <a:r>
              <a:rPr lang="en-US" sz="2000"/>
              <a:t> Quality and reputation( high quality used vehicles)</a:t>
            </a:r>
            <a:endParaRPr lang="en-US" sz="2000">
              <a:solidFill>
                <a:srgbClr val="444444"/>
              </a:solidFill>
            </a:endParaRPr>
          </a:p>
          <a:p>
            <a:r>
              <a:rPr lang="en-US" sz="2000"/>
              <a:t> Market Disruption( many traditional dealerships to reconsider operations), Competition with online platforms like Carvana and Vroom</a:t>
            </a:r>
            <a:endParaRPr lang="en-US" sz="2000">
              <a:solidFill>
                <a:srgbClr val="444444"/>
              </a:solidFill>
            </a:endParaRPr>
          </a:p>
          <a:p>
            <a:r>
              <a:rPr lang="en-US" sz="2000"/>
              <a:t>Strong Customer Loyalty(straightforward, hassle-free car-buying experience is highly valued by consumers. Competitors recognize that CarMax has effectively leveraged trust and transparency to build a loyal customer base.)</a:t>
            </a:r>
            <a:endParaRPr lang="en-US" sz="2000">
              <a:solidFill>
                <a:srgbClr val="444444"/>
              </a:solidFill>
            </a:endParaRPr>
          </a:p>
          <a:p>
            <a:r>
              <a:rPr lang="en-US" sz="2000"/>
              <a:t> Financial strength and growth.</a:t>
            </a:r>
            <a:endParaRPr lang="en-US" sz="2000">
              <a:solidFill>
                <a:srgbClr val="444444"/>
              </a:solidFill>
            </a:endParaRPr>
          </a:p>
          <a:p>
            <a:r>
              <a:rPr lang="en-US" sz="2000"/>
              <a:t>CarMax is perceived as a successful, innovative player in the used car industry, with some traditional dealerships viewing it as a model to emulate and others seeing it as a competitor that has reshaped consumer expectations.</a:t>
            </a:r>
          </a:p>
          <a:p>
            <a:endParaRPr lang="en-US" sz="1400"/>
          </a:p>
        </p:txBody>
      </p:sp>
    </p:spTree>
    <p:extLst>
      <p:ext uri="{BB962C8B-B14F-4D97-AF65-F5344CB8AC3E}">
        <p14:creationId xmlns:p14="http://schemas.microsoft.com/office/powerpoint/2010/main" val="465638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489766-DC33-9049-82AC-059C10C469BE}"/>
              </a:ext>
            </a:extLst>
          </p:cNvPr>
          <p:cNvSpPr>
            <a:spLocks noGrp="1"/>
          </p:cNvSpPr>
          <p:nvPr>
            <p:ph type="title"/>
          </p:nvPr>
        </p:nvSpPr>
        <p:spPr>
          <a:xfrm>
            <a:off x="6471041" y="1550731"/>
            <a:ext cx="4805996" cy="3750894"/>
          </a:xfrm>
        </p:spPr>
        <p:txBody>
          <a:bodyPr vert="horz" lIns="91440" tIns="45720" rIns="91440" bIns="45720" rtlCol="0" anchor="t">
            <a:normAutofit/>
          </a:bodyPr>
          <a:lstStyle/>
          <a:p>
            <a:r>
              <a:rPr lang="en-US" sz="4000" kern="1200">
                <a:solidFill>
                  <a:schemeClr val="tx2"/>
                </a:solidFill>
                <a:latin typeface="+mj-lt"/>
                <a:ea typeface="+mj-ea"/>
                <a:cs typeface="+mj-cs"/>
              </a:rPr>
              <a:t>Case Questions</a:t>
            </a:r>
            <a:r>
              <a:rPr lang="en-US" sz="4000">
                <a:solidFill>
                  <a:schemeClr val="tx2"/>
                </a:solidFill>
              </a:rPr>
              <a:t>: </a:t>
            </a:r>
            <a:br>
              <a:rPr lang="en-US" sz="4000"/>
            </a:br>
            <a:r>
              <a:rPr lang="en-US" sz="2400">
                <a:ea typeface="+mj-lt"/>
                <a:cs typeface="+mj-lt"/>
              </a:rPr>
              <a:t>Based on their use of multi-functional product teams, what personal traits, technical skills, and non-technical skills do you think CarMax looks for in its information systems new hires?</a:t>
            </a:r>
            <a:br>
              <a:rPr lang="en-US" sz="2400">
                <a:ea typeface="+mj-lt"/>
                <a:cs typeface="+mj-lt"/>
              </a:rPr>
            </a:br>
            <a:br>
              <a:rPr lang="en-US" sz="2400">
                <a:ea typeface="+mj-lt"/>
                <a:cs typeface="+mj-lt"/>
              </a:rPr>
            </a:br>
            <a:br>
              <a:rPr lang="en-US" sz="2400">
                <a:ea typeface="+mj-lt"/>
                <a:cs typeface="+mj-lt"/>
              </a:rPr>
            </a:br>
            <a:endParaRPr lang="en-US" sz="2400">
              <a:solidFill>
                <a:schemeClr val="tx2"/>
              </a:solidFill>
            </a:endParaRPr>
          </a:p>
          <a:p>
            <a:endParaRPr lang="en-US" sz="4000" kern="1200"/>
          </a:p>
        </p:txBody>
      </p:sp>
      <p:pic>
        <p:nvPicPr>
          <p:cNvPr id="7" name="Graphic 6" descr="Help">
            <a:extLst>
              <a:ext uri="{FF2B5EF4-FFF2-40B4-BE49-F238E27FC236}">
                <a16:creationId xmlns:a16="http://schemas.microsoft.com/office/drawing/2014/main" id="{C83EBFD7-D99D-7620-16F4-7B7A323D4F4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20" name="Group 19">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57350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A92602-7875-1D97-91E2-27D6EC621036}"/>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  Overview of case- Yuritzi Ocampo</a:t>
            </a:r>
          </a:p>
        </p:txBody>
      </p:sp>
      <p:pic>
        <p:nvPicPr>
          <p:cNvPr id="26" name="Content Placeholder 25" descr="Business Growth with solid fill">
            <a:extLst>
              <a:ext uri="{FF2B5EF4-FFF2-40B4-BE49-F238E27FC236}">
                <a16:creationId xmlns:a16="http://schemas.microsoft.com/office/drawing/2014/main" id="{B89EEEE6-BB0E-D906-EFDD-94A18D054D6B}"/>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9485313" y="2741612"/>
            <a:ext cx="1263649" cy="1255712"/>
          </a:xfrm>
        </p:spPr>
      </p:pic>
      <p:pic>
        <p:nvPicPr>
          <p:cNvPr id="27" name="Graphic 26" descr="Handshake with solid fill">
            <a:extLst>
              <a:ext uri="{FF2B5EF4-FFF2-40B4-BE49-F238E27FC236}">
                <a16:creationId xmlns:a16="http://schemas.microsoft.com/office/drawing/2014/main" id="{577063DF-2E48-4F22-0625-514FC852BA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9362" y="2582863"/>
            <a:ext cx="1374775" cy="1374775"/>
          </a:xfrm>
          <a:prstGeom prst="rect">
            <a:avLst/>
          </a:prstGeom>
        </p:spPr>
      </p:pic>
      <p:pic>
        <p:nvPicPr>
          <p:cNvPr id="28" name="Graphic 27" descr="Customer review with solid fill">
            <a:extLst>
              <a:ext uri="{FF2B5EF4-FFF2-40B4-BE49-F238E27FC236}">
                <a16:creationId xmlns:a16="http://schemas.microsoft.com/office/drawing/2014/main" id="{80DCA144-3C51-97DC-FD93-D622D88C03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59238" y="2741612"/>
            <a:ext cx="1216025" cy="1216025"/>
          </a:xfrm>
          <a:prstGeom prst="rect">
            <a:avLst/>
          </a:prstGeom>
        </p:spPr>
      </p:pic>
      <p:pic>
        <p:nvPicPr>
          <p:cNvPr id="31" name="Graphic 30" descr="Group brainstorm with solid fill">
            <a:extLst>
              <a:ext uri="{FF2B5EF4-FFF2-40B4-BE49-F238E27FC236}">
                <a16:creationId xmlns:a16="http://schemas.microsoft.com/office/drawing/2014/main" id="{55CD5EEB-C4FE-5F7B-ADF1-405632B3020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21488" y="2582863"/>
            <a:ext cx="1517651" cy="1501775"/>
          </a:xfrm>
          <a:prstGeom prst="rect">
            <a:avLst/>
          </a:prstGeom>
        </p:spPr>
      </p:pic>
      <p:sp>
        <p:nvSpPr>
          <p:cNvPr id="32" name="TextBox 31">
            <a:extLst>
              <a:ext uri="{FF2B5EF4-FFF2-40B4-BE49-F238E27FC236}">
                <a16:creationId xmlns:a16="http://schemas.microsoft.com/office/drawing/2014/main" id="{6966A29C-4F5C-11AA-E412-32415091A8F9}"/>
              </a:ext>
            </a:extLst>
          </p:cNvPr>
          <p:cNvSpPr txBox="1"/>
          <p:nvPr/>
        </p:nvSpPr>
        <p:spPr>
          <a:xfrm>
            <a:off x="1034642" y="4036473"/>
            <a:ext cx="2330597"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accent1">
                    <a:lumMod val="49000"/>
                  </a:schemeClr>
                </a:solidFill>
              </a:rPr>
              <a:t>Adaptability </a:t>
            </a:r>
            <a:r>
              <a:rPr lang="en-US"/>
              <a:t>- </a:t>
            </a:r>
            <a:r>
              <a:rPr lang="en-US">
                <a:latin typeface="Calibri"/>
                <a:ea typeface="Calibri"/>
                <a:cs typeface="Calibri"/>
              </a:rPr>
              <a:t>Carmax adjusted to new situations and sought out new opportunities to grow the company. They adjusted their systems and customer needs to a fast- changing environment . </a:t>
            </a:r>
          </a:p>
        </p:txBody>
      </p:sp>
      <p:sp>
        <p:nvSpPr>
          <p:cNvPr id="33" name="TextBox 32">
            <a:extLst>
              <a:ext uri="{FF2B5EF4-FFF2-40B4-BE49-F238E27FC236}">
                <a16:creationId xmlns:a16="http://schemas.microsoft.com/office/drawing/2014/main" id="{B0992E47-81B3-3E65-B920-3029D71D9E84}"/>
              </a:ext>
            </a:extLst>
          </p:cNvPr>
          <p:cNvSpPr txBox="1"/>
          <p:nvPr/>
        </p:nvSpPr>
        <p:spPr>
          <a:xfrm>
            <a:off x="3721040" y="3966573"/>
            <a:ext cx="2217189" cy="2954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0070C0"/>
                </a:solidFill>
              </a:rPr>
              <a:t>Communication &amp;  Problem solving</a:t>
            </a:r>
            <a:r>
              <a:rPr lang="en-US" b="1">
                <a:solidFill>
                  <a:srgbClr val="0070C0"/>
                </a:solidFill>
              </a:rPr>
              <a:t> </a:t>
            </a:r>
            <a:r>
              <a:rPr lang="en-US"/>
              <a:t>-  </a:t>
            </a:r>
            <a:r>
              <a:rPr lang="en-US">
                <a:latin typeface="Calibri"/>
                <a:ea typeface="Calibri"/>
                <a:cs typeface="Calibri"/>
              </a:rPr>
              <a:t>Communication  is important to explain new ideas, problems and solutions in order for the company to run smoothly.</a:t>
            </a:r>
          </a:p>
        </p:txBody>
      </p:sp>
      <p:sp>
        <p:nvSpPr>
          <p:cNvPr id="34" name="TextBox 33">
            <a:extLst>
              <a:ext uri="{FF2B5EF4-FFF2-40B4-BE49-F238E27FC236}">
                <a16:creationId xmlns:a16="http://schemas.microsoft.com/office/drawing/2014/main" id="{6EAEC310-61B0-66D4-A3EB-A91422462D68}"/>
              </a:ext>
            </a:extLst>
          </p:cNvPr>
          <p:cNvSpPr txBox="1"/>
          <p:nvPr/>
        </p:nvSpPr>
        <p:spPr>
          <a:xfrm>
            <a:off x="6821949" y="4041197"/>
            <a:ext cx="2145723"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92D050"/>
                </a:solidFill>
              </a:rPr>
              <a:t>Teamwork</a:t>
            </a:r>
            <a:r>
              <a:rPr lang="en-US"/>
              <a:t>-  </a:t>
            </a:r>
          </a:p>
          <a:p>
            <a:r>
              <a:rPr lang="en-US">
                <a:latin typeface="Calibri"/>
                <a:ea typeface="Calibri"/>
                <a:cs typeface="Calibri"/>
              </a:rPr>
              <a:t>By working together, people with diverse skills and backgrounds such as web and graphic designers and project leaders  accomplish shared goals.</a:t>
            </a:r>
            <a:endParaRPr lang="en-US"/>
          </a:p>
        </p:txBody>
      </p:sp>
      <p:sp>
        <p:nvSpPr>
          <p:cNvPr id="35" name="TextBox 34">
            <a:extLst>
              <a:ext uri="{FF2B5EF4-FFF2-40B4-BE49-F238E27FC236}">
                <a16:creationId xmlns:a16="http://schemas.microsoft.com/office/drawing/2014/main" id="{95685DAB-C6F3-A0EB-A68D-08F44A432859}"/>
              </a:ext>
            </a:extLst>
          </p:cNvPr>
          <p:cNvSpPr txBox="1"/>
          <p:nvPr/>
        </p:nvSpPr>
        <p:spPr>
          <a:xfrm>
            <a:off x="9475256" y="4022135"/>
            <a:ext cx="2366381" cy="26468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C00000"/>
                </a:solidFill>
              </a:rPr>
              <a:t>Customer satisfaction</a:t>
            </a:r>
            <a:r>
              <a:rPr lang="en-US">
                <a:solidFill>
                  <a:srgbClr val="000000"/>
                </a:solidFill>
              </a:rPr>
              <a:t>-  </a:t>
            </a:r>
            <a:r>
              <a:rPr lang="en-US">
                <a:latin typeface="Calibri"/>
                <a:ea typeface="Calibri"/>
                <a:cs typeface="Calibri"/>
              </a:rPr>
              <a:t>Carmax used user friendly online tools and their mobile app to improve their customers experiences and create positive interactions. </a:t>
            </a:r>
            <a:r>
              <a:rPr lang="en-US"/>
              <a:t>   </a:t>
            </a:r>
          </a:p>
        </p:txBody>
      </p:sp>
      <p:pic>
        <p:nvPicPr>
          <p:cNvPr id="36" name="Graphic 35" descr="Clipboard Partially Checked with solid fill">
            <a:extLst>
              <a:ext uri="{FF2B5EF4-FFF2-40B4-BE49-F238E27FC236}">
                <a16:creationId xmlns:a16="http://schemas.microsoft.com/office/drawing/2014/main" id="{10135195-E746-9CF4-44E3-8F6D1AD4B92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55175" y="296863"/>
            <a:ext cx="914400" cy="914400"/>
          </a:xfrm>
          <a:prstGeom prst="rect">
            <a:avLst/>
          </a:prstGeom>
        </p:spPr>
      </p:pic>
    </p:spTree>
    <p:extLst>
      <p:ext uri="{BB962C8B-B14F-4D97-AF65-F5344CB8AC3E}">
        <p14:creationId xmlns:p14="http://schemas.microsoft.com/office/powerpoint/2010/main" val="9044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F124F5-B87C-8C6F-FE09-A1ED18306CA7}"/>
              </a:ext>
            </a:extLst>
          </p:cNvPr>
          <p:cNvSpPr>
            <a:spLocks noGrp="1"/>
          </p:cNvSpPr>
          <p:nvPr>
            <p:ph type="title"/>
          </p:nvPr>
        </p:nvSpPr>
        <p:spPr>
          <a:xfrm>
            <a:off x="6819262" y="1709689"/>
            <a:ext cx="4805996" cy="676630"/>
          </a:xfrm>
        </p:spPr>
        <p:txBody>
          <a:bodyPr vert="horz" lIns="91440" tIns="45720" rIns="91440" bIns="45720" rtlCol="0" anchor="t">
            <a:normAutofit/>
          </a:bodyPr>
          <a:lstStyle/>
          <a:p>
            <a:r>
              <a:rPr lang="en-US" sz="4000" kern="1200">
                <a:solidFill>
                  <a:schemeClr val="tx2"/>
                </a:solidFill>
                <a:latin typeface="+mj-lt"/>
                <a:ea typeface="+mj-ea"/>
                <a:cs typeface="+mj-cs"/>
              </a:rPr>
              <a:t>Case Questions</a:t>
            </a:r>
          </a:p>
        </p:txBody>
      </p:sp>
      <p:pic>
        <p:nvPicPr>
          <p:cNvPr id="7" name="Graphic 6" descr="Help">
            <a:extLst>
              <a:ext uri="{FF2B5EF4-FFF2-40B4-BE49-F238E27FC236}">
                <a16:creationId xmlns:a16="http://schemas.microsoft.com/office/drawing/2014/main" id="{71AD451D-5306-CEB5-3BFF-8C4F5C9B91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20" name="Group 19">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F1063B41-5E90-568F-027A-6591E0396EC7}"/>
              </a:ext>
            </a:extLst>
          </p:cNvPr>
          <p:cNvSpPr txBox="1"/>
          <p:nvPr/>
        </p:nvSpPr>
        <p:spPr>
          <a:xfrm>
            <a:off x="6319157" y="2745921"/>
            <a:ext cx="5796642"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Aptos Display"/>
                <a:ea typeface="+mn-lt"/>
                <a:cs typeface="+mn-lt"/>
              </a:rPr>
              <a:t>Would you classify the new auto appraisal system as operating in the personal, workgroup, enterprise, or interorganizational sphere of influence? Why? Identify key organizational complements CarMax needed to put in place to ensure that the new system would be successful.</a:t>
            </a:r>
            <a:endParaRPr lang="en-US" sz="2400">
              <a:latin typeface="Aptos Display"/>
            </a:endParaRPr>
          </a:p>
        </p:txBody>
      </p:sp>
    </p:spTree>
    <p:extLst>
      <p:ext uri="{BB962C8B-B14F-4D97-AF65-F5344CB8AC3E}">
        <p14:creationId xmlns:p14="http://schemas.microsoft.com/office/powerpoint/2010/main" val="2140025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80E420-3EBE-B163-36C5-179340454367}"/>
              </a:ext>
            </a:extLst>
          </p:cNvPr>
          <p:cNvSpPr>
            <a:spLocks noGrp="1"/>
          </p:cNvSpPr>
          <p:nvPr>
            <p:ph type="title"/>
          </p:nvPr>
        </p:nvSpPr>
        <p:spPr>
          <a:xfrm>
            <a:off x="1133999" y="292423"/>
            <a:ext cx="9895951" cy="1033669"/>
          </a:xfrm>
        </p:spPr>
        <p:txBody>
          <a:bodyPr>
            <a:normAutofit/>
          </a:bodyPr>
          <a:lstStyle/>
          <a:p>
            <a:r>
              <a:rPr lang="en-US" sz="4000">
                <a:solidFill>
                  <a:srgbClr val="FFFFFF"/>
                </a:solidFill>
              </a:rPr>
              <a:t>Overview of case- Leslie Velazquez</a:t>
            </a:r>
          </a:p>
        </p:txBody>
      </p:sp>
      <p:sp>
        <p:nvSpPr>
          <p:cNvPr id="3" name="Content Placeholder 2">
            <a:extLst>
              <a:ext uri="{FF2B5EF4-FFF2-40B4-BE49-F238E27FC236}">
                <a16:creationId xmlns:a16="http://schemas.microsoft.com/office/drawing/2014/main" id="{DC60CA92-3A85-4B7F-C45F-6AB27C688471}"/>
              </a:ext>
            </a:extLst>
          </p:cNvPr>
          <p:cNvSpPr>
            <a:spLocks noGrp="1"/>
          </p:cNvSpPr>
          <p:nvPr>
            <p:ph idx="1"/>
          </p:nvPr>
        </p:nvSpPr>
        <p:spPr>
          <a:xfrm>
            <a:off x="459085" y="1717368"/>
            <a:ext cx="4716603" cy="4761043"/>
          </a:xfrm>
        </p:spPr>
        <p:txBody>
          <a:bodyPr anchor="ctr">
            <a:normAutofit fontScale="92500" lnSpcReduction="10000"/>
          </a:bodyPr>
          <a:lstStyle/>
          <a:p>
            <a:pPr>
              <a:buFont typeface="Calibri" panose="020B0604020202020204" pitchFamily="34" charset="0"/>
              <a:buChar char="-"/>
            </a:pPr>
            <a:r>
              <a:rPr lang="en-US" sz="1800" b="0" i="0">
                <a:effectLst/>
                <a:latin typeface="Aptos Display"/>
                <a:cs typeface="Helvetica"/>
              </a:rPr>
              <a:t>CarMax is developing an app to support a loyalty program for car </a:t>
            </a:r>
            <a:r>
              <a:rPr lang="en-US" sz="1800">
                <a:latin typeface="Aptos Display"/>
                <a:cs typeface="Helvetica"/>
              </a:rPr>
              <a:t>owners, helping</a:t>
            </a:r>
            <a:r>
              <a:rPr lang="en-US" sz="1800" b="0" i="0">
                <a:effectLst/>
                <a:latin typeface="Aptos Display"/>
                <a:cs typeface="Helvetica"/>
              </a:rPr>
              <a:t> them </a:t>
            </a:r>
            <a:endParaRPr lang="en-US">
              <a:latin typeface="Aptos Display"/>
              <a:cs typeface="Helvetica"/>
            </a:endParaRPr>
          </a:p>
          <a:p>
            <a:pPr marL="0" indent="0">
              <a:buNone/>
            </a:pPr>
            <a:r>
              <a:rPr lang="en-US" sz="1800">
                <a:latin typeface="Aptos Display"/>
                <a:cs typeface="Helvetica"/>
              </a:rPr>
              <a:t>  - </a:t>
            </a:r>
            <a:r>
              <a:rPr lang="en-US" sz="1800" b="0" i="0">
                <a:effectLst/>
                <a:latin typeface="Aptos Display"/>
                <a:cs typeface="Helvetica"/>
              </a:rPr>
              <a:t>maintain their vehicles</a:t>
            </a:r>
            <a:endParaRPr lang="en-US">
              <a:latin typeface="Aptos Display"/>
              <a:cs typeface="Helvetica"/>
            </a:endParaRPr>
          </a:p>
          <a:p>
            <a:pPr marL="0" indent="0">
              <a:buNone/>
            </a:pPr>
            <a:r>
              <a:rPr lang="en-US" sz="1800">
                <a:latin typeface="Aptos Display"/>
                <a:cs typeface="Helvetica"/>
              </a:rPr>
              <a:t>  - </a:t>
            </a:r>
            <a:r>
              <a:rPr lang="en-US" sz="1800" b="0" i="0">
                <a:effectLst/>
                <a:latin typeface="Aptos Display"/>
                <a:cs typeface="Helvetica"/>
              </a:rPr>
              <a:t>access roadside assistance</a:t>
            </a:r>
            <a:endParaRPr lang="en-US">
              <a:latin typeface="Aptos Display"/>
              <a:cs typeface="Helvetica"/>
            </a:endParaRPr>
          </a:p>
          <a:p>
            <a:pPr marL="0" indent="0">
              <a:buNone/>
            </a:pPr>
            <a:r>
              <a:rPr lang="en-US" sz="1800">
                <a:latin typeface="Aptos Display"/>
                <a:cs typeface="Helvetica"/>
              </a:rPr>
              <a:t>  - store</a:t>
            </a:r>
            <a:r>
              <a:rPr lang="en-US" sz="1800" b="0" i="0">
                <a:effectLst/>
                <a:latin typeface="Aptos Display"/>
                <a:cs typeface="Helvetica"/>
              </a:rPr>
              <a:t> important details like vehicle ID </a:t>
            </a:r>
            <a:r>
              <a:rPr lang="en-US" sz="1800">
                <a:latin typeface="Aptos Display"/>
                <a:cs typeface="Helvetica"/>
              </a:rPr>
              <a:t>            </a:t>
            </a:r>
            <a:r>
              <a:rPr lang="en-US" sz="1800" b="0" i="0">
                <a:effectLst/>
                <a:latin typeface="Aptos Display"/>
                <a:cs typeface="Helvetica"/>
              </a:rPr>
              <a:t>and insurance information</a:t>
            </a:r>
            <a:endParaRPr lang="en-US">
              <a:latin typeface="Aptos Display"/>
            </a:endParaRPr>
          </a:p>
          <a:p>
            <a:pPr>
              <a:buFont typeface="Calibri" panose="020B0604020202020204" pitchFamily="34" charset="0"/>
              <a:buChar char="-"/>
            </a:pPr>
            <a:r>
              <a:rPr lang="en-US" sz="1800" b="0" i="0">
                <a:effectLst/>
                <a:latin typeface="Aptos Display"/>
                <a:cs typeface="Helvetica"/>
              </a:rPr>
              <a:t>The company has </a:t>
            </a:r>
            <a:r>
              <a:rPr lang="en-US" sz="1800">
                <a:latin typeface="Aptos Display"/>
                <a:cs typeface="Helvetica"/>
              </a:rPr>
              <a:t>process</a:t>
            </a:r>
            <a:r>
              <a:rPr lang="en-US" sz="1800" b="0" i="0">
                <a:effectLst/>
                <a:latin typeface="Aptos Display"/>
                <a:cs typeface="Helvetica"/>
              </a:rPr>
              <a:t> for new software developers through its eight-week IT Academy, where they learn</a:t>
            </a:r>
            <a:endParaRPr lang="en-US" sz="1800">
              <a:latin typeface="Aptos Display"/>
              <a:cs typeface="Helvetica"/>
            </a:endParaRPr>
          </a:p>
          <a:p>
            <a:pPr marL="0" indent="0">
              <a:buNone/>
            </a:pPr>
            <a:r>
              <a:rPr lang="en-US" sz="1800">
                <a:latin typeface="Aptos Display"/>
                <a:cs typeface="Helvetica"/>
              </a:rPr>
              <a:t>  - CarMax's</a:t>
            </a:r>
            <a:r>
              <a:rPr lang="en-US" sz="1800" b="0" i="0">
                <a:effectLst/>
                <a:latin typeface="Aptos Display"/>
                <a:cs typeface="Helvetica"/>
              </a:rPr>
              <a:t> </a:t>
            </a:r>
            <a:r>
              <a:rPr lang="en-US" sz="1800">
                <a:latin typeface="Aptos Display"/>
                <a:cs typeface="Helvetica"/>
              </a:rPr>
              <a:t>technologies </a:t>
            </a:r>
            <a:endParaRPr lang="en-US">
              <a:latin typeface="Aptos Display"/>
              <a:cs typeface="Helvetica"/>
            </a:endParaRPr>
          </a:p>
          <a:p>
            <a:pPr marL="0" indent="0">
              <a:buNone/>
            </a:pPr>
            <a:r>
              <a:rPr lang="en-US" sz="1800">
                <a:latin typeface="Aptos Display"/>
                <a:cs typeface="Helvetica"/>
              </a:rPr>
              <a:t>  - Development</a:t>
            </a:r>
            <a:r>
              <a:rPr lang="en-US" sz="1800" b="0" i="0">
                <a:effectLst/>
                <a:latin typeface="Aptos Display"/>
                <a:cs typeface="Helvetica"/>
              </a:rPr>
              <a:t> </a:t>
            </a:r>
            <a:r>
              <a:rPr lang="en-US" sz="1800">
                <a:latin typeface="Aptos Display"/>
                <a:cs typeface="Helvetica"/>
              </a:rPr>
              <a:t>processes </a:t>
            </a:r>
            <a:endParaRPr lang="en-US">
              <a:latin typeface="Aptos Display"/>
              <a:cs typeface="Helvetica"/>
            </a:endParaRPr>
          </a:p>
          <a:p>
            <a:pPr marL="0" indent="0">
              <a:buNone/>
            </a:pPr>
            <a:r>
              <a:rPr lang="en-US" sz="1800">
                <a:latin typeface="Aptos Display"/>
                <a:cs typeface="Helvetica"/>
              </a:rPr>
              <a:t>  - Business</a:t>
            </a:r>
            <a:r>
              <a:rPr lang="en-US" sz="1800" b="0" i="0">
                <a:effectLst/>
                <a:latin typeface="Aptos Display"/>
                <a:cs typeface="Helvetica"/>
              </a:rPr>
              <a:t> operations</a:t>
            </a:r>
            <a:endParaRPr lang="en-US">
              <a:latin typeface="Aptos Display"/>
            </a:endParaRPr>
          </a:p>
          <a:p>
            <a:pPr>
              <a:buFont typeface="Calibri" panose="020B0604020202020204" pitchFamily="34" charset="0"/>
              <a:buChar char="-"/>
            </a:pPr>
            <a:r>
              <a:rPr lang="en-US" sz="1800" b="0" i="0">
                <a:effectLst/>
                <a:latin typeface="Aptos Display"/>
                <a:cs typeface="Helvetica"/>
              </a:rPr>
              <a:t>Developers join </a:t>
            </a:r>
            <a:r>
              <a:rPr lang="en-US" sz="1800">
                <a:latin typeface="Aptos Display"/>
                <a:cs typeface="Helvetica"/>
              </a:rPr>
              <a:t>these multi-functional</a:t>
            </a:r>
            <a:r>
              <a:rPr lang="en-US" sz="1800" b="0" i="0">
                <a:effectLst/>
                <a:latin typeface="Aptos Display"/>
                <a:cs typeface="Helvetica"/>
              </a:rPr>
              <a:t> product teams that </a:t>
            </a:r>
            <a:r>
              <a:rPr lang="en-US" sz="1800">
                <a:latin typeface="Aptos Display"/>
                <a:cs typeface="Helvetica"/>
              </a:rPr>
              <a:t>help to</a:t>
            </a:r>
            <a:r>
              <a:rPr lang="en-US" sz="1800" b="0" i="0">
                <a:effectLst/>
                <a:latin typeface="Aptos Display"/>
                <a:cs typeface="Helvetica"/>
              </a:rPr>
              <a:t> achieve business goals and showcase their progress </a:t>
            </a:r>
            <a:r>
              <a:rPr lang="en-US" sz="1800">
                <a:latin typeface="Aptos Display"/>
                <a:cs typeface="Helvetica"/>
              </a:rPr>
              <a:t>attended</a:t>
            </a:r>
            <a:r>
              <a:rPr lang="en-US" sz="1800" b="0" i="0">
                <a:effectLst/>
                <a:latin typeface="Aptos Display"/>
                <a:cs typeface="Helvetica"/>
              </a:rPr>
              <a:t> by senior managers.</a:t>
            </a:r>
            <a:endParaRPr lang="en-US" sz="1800">
              <a:effectLst/>
              <a:latin typeface="Aptos Display"/>
              <a:cs typeface="Helvetica"/>
            </a:endParaRPr>
          </a:p>
        </p:txBody>
      </p:sp>
      <p:sp>
        <p:nvSpPr>
          <p:cNvPr id="5" name="TextBox 4">
            <a:extLst>
              <a:ext uri="{FF2B5EF4-FFF2-40B4-BE49-F238E27FC236}">
                <a16:creationId xmlns:a16="http://schemas.microsoft.com/office/drawing/2014/main" id="{8613D241-BF7C-1C16-05FC-20E07B4E4FC7}"/>
              </a:ext>
            </a:extLst>
          </p:cNvPr>
          <p:cNvSpPr txBox="1"/>
          <p:nvPr/>
        </p:nvSpPr>
        <p:spPr>
          <a:xfrm>
            <a:off x="5888034" y="1635005"/>
            <a:ext cx="561974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tos Display"/>
              </a:rPr>
              <a:t>Some key organizational complements CarMax needs are:</a:t>
            </a:r>
            <a:endParaRPr lang="en-US"/>
          </a:p>
          <a:p>
            <a:pPr marL="285750" indent="-285750">
              <a:buFont typeface="Calibri"/>
              <a:buChar char="-"/>
            </a:pPr>
            <a:r>
              <a:rPr lang="en-US">
                <a:latin typeface="Aptos Display"/>
              </a:rPr>
              <a:t>Skilled Workforce</a:t>
            </a:r>
          </a:p>
          <a:p>
            <a:pPr marL="285750" indent="-285750">
              <a:buFont typeface="Calibri"/>
              <a:buChar char="-"/>
            </a:pPr>
            <a:r>
              <a:rPr lang="en-US">
                <a:latin typeface="Aptos Display"/>
              </a:rPr>
              <a:t>Cross-functional teams</a:t>
            </a:r>
          </a:p>
          <a:p>
            <a:pPr marL="285750" indent="-285750">
              <a:buFont typeface="Calibri"/>
              <a:buChar char="-"/>
            </a:pPr>
            <a:r>
              <a:rPr lang="en-US">
                <a:latin typeface="Aptos Display"/>
              </a:rPr>
              <a:t>Business Process Integration</a:t>
            </a:r>
          </a:p>
          <a:p>
            <a:pPr marL="285750" indent="-285750">
              <a:buFont typeface="Calibri"/>
              <a:buChar char="-"/>
            </a:pPr>
            <a:r>
              <a:rPr lang="en-US">
                <a:latin typeface="Aptos Display"/>
              </a:rPr>
              <a:t>Leadership Support</a:t>
            </a:r>
          </a:p>
          <a:p>
            <a:pPr marL="285750" indent="-285750">
              <a:buFont typeface="Calibri"/>
              <a:buChar char="-"/>
            </a:pPr>
            <a:r>
              <a:rPr lang="en-US">
                <a:latin typeface="Aptos Display"/>
              </a:rPr>
              <a:t>Customer Focus</a:t>
            </a:r>
          </a:p>
          <a:p>
            <a:endParaRPr lang="en-US"/>
          </a:p>
        </p:txBody>
      </p:sp>
      <p:sp>
        <p:nvSpPr>
          <p:cNvPr id="4" name="TextBox 3">
            <a:extLst>
              <a:ext uri="{FF2B5EF4-FFF2-40B4-BE49-F238E27FC236}">
                <a16:creationId xmlns:a16="http://schemas.microsoft.com/office/drawing/2014/main" id="{2067468E-39E8-ED2A-0BB3-217A41057070}"/>
              </a:ext>
            </a:extLst>
          </p:cNvPr>
          <p:cNvSpPr txBox="1"/>
          <p:nvPr/>
        </p:nvSpPr>
        <p:spPr>
          <a:xfrm>
            <a:off x="5886294" y="3326604"/>
            <a:ext cx="5967132"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new auto appraisal system would operate in the enterprise sphere of influence because it directly supports: </a:t>
            </a:r>
          </a:p>
          <a:p>
            <a:r>
              <a:rPr lang="en-US"/>
              <a:t>  - CarMax's internal operations </a:t>
            </a:r>
          </a:p>
          <a:p>
            <a:r>
              <a:rPr lang="en-US"/>
              <a:t>  - Strategic goals </a:t>
            </a:r>
          </a:p>
          <a:p>
            <a:r>
              <a:rPr lang="en-US"/>
              <a:t>  - Enhance customer experience </a:t>
            </a:r>
          </a:p>
          <a:p>
            <a:r>
              <a:rPr lang="en-US"/>
              <a:t>  - Show customer loyalty. </a:t>
            </a:r>
          </a:p>
          <a:p>
            <a:r>
              <a:rPr lang="en-US"/>
              <a:t>This system is designed to work across the entire organization and also to support the following departments:</a:t>
            </a:r>
          </a:p>
          <a:p>
            <a:pPr marL="742950" lvl="1" indent="-285750">
              <a:buFont typeface="Calibri"/>
              <a:buChar char="-"/>
            </a:pPr>
            <a:r>
              <a:rPr lang="en-US"/>
              <a:t>IT</a:t>
            </a:r>
          </a:p>
          <a:p>
            <a:pPr marL="742950" lvl="1" indent="-285750">
              <a:buFont typeface="Calibri"/>
              <a:buChar char="-"/>
            </a:pPr>
            <a:r>
              <a:rPr lang="en-US"/>
              <a:t>Marketing </a:t>
            </a:r>
          </a:p>
          <a:p>
            <a:pPr marL="742950" lvl="1" indent="-285750">
              <a:buFont typeface="Calibri"/>
              <a:buChar char="-"/>
            </a:pPr>
            <a:r>
              <a:rPr lang="en-US"/>
              <a:t>Customer Service.</a:t>
            </a:r>
          </a:p>
        </p:txBody>
      </p:sp>
    </p:spTree>
    <p:extLst>
      <p:ext uri="{BB962C8B-B14F-4D97-AF65-F5344CB8AC3E}">
        <p14:creationId xmlns:p14="http://schemas.microsoft.com/office/powerpoint/2010/main" val="4031822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1D7746-F55A-BB90-B183-D438E0020534}"/>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Sources:</a:t>
            </a:r>
          </a:p>
        </p:txBody>
      </p:sp>
      <p:sp>
        <p:nvSpPr>
          <p:cNvPr id="3" name="Content Placeholder 2">
            <a:extLst>
              <a:ext uri="{FF2B5EF4-FFF2-40B4-BE49-F238E27FC236}">
                <a16:creationId xmlns:a16="http://schemas.microsoft.com/office/drawing/2014/main" id="{3B3F4F61-14ED-4EDD-EE7C-1060A33E06D0}"/>
              </a:ext>
            </a:extLst>
          </p:cNvPr>
          <p:cNvSpPr>
            <a:spLocks noGrp="1"/>
          </p:cNvSpPr>
          <p:nvPr>
            <p:ph idx="1"/>
          </p:nvPr>
        </p:nvSpPr>
        <p:spPr>
          <a:xfrm>
            <a:off x="4810259" y="489816"/>
            <a:ext cx="6555347" cy="6012969"/>
          </a:xfrm>
        </p:spPr>
        <p:txBody>
          <a:bodyPr anchor="ctr">
            <a:normAutofit fontScale="92500" lnSpcReduction="20000"/>
          </a:bodyPr>
          <a:lstStyle/>
          <a:p>
            <a:r>
              <a:rPr lang="en-US" sz="2000" dirty="0">
                <a:ea typeface="+mn-lt"/>
                <a:cs typeface="+mn-lt"/>
              </a:rPr>
              <a:t>Sources: "CarMax Investor Relations," </a:t>
            </a:r>
            <a:r>
              <a:rPr lang="en-US" sz="2000" dirty="0">
                <a:ea typeface="+mn-lt"/>
                <a:cs typeface="+mn-lt"/>
                <a:hlinkClick r:id="rId2"/>
              </a:rPr>
              <a:t>http://investors.carmax.com/home/default.aspx</a:t>
            </a:r>
            <a:r>
              <a:rPr lang="en-US" sz="2000" dirty="0">
                <a:ea typeface="+mn-lt"/>
                <a:cs typeface="+mn-lt"/>
              </a:rPr>
              <a:t> "CarMax Fiscal 2017 Annual Report,"</a:t>
            </a:r>
            <a:endParaRPr lang="en-US" dirty="0"/>
          </a:p>
          <a:p>
            <a:r>
              <a:rPr lang="en-US" sz="2000" dirty="0">
                <a:ea typeface="+mn-lt"/>
                <a:cs typeface="+mn-lt"/>
                <a:hlinkClick r:id="rId3"/>
              </a:rPr>
              <a:t>http://s21.g4cdn.com/483767183/files/doc</a:t>
            </a:r>
            <a:r>
              <a:rPr lang="en-US" sz="2000" dirty="0">
                <a:ea typeface="+mn-lt"/>
                <a:cs typeface="+mn-lt"/>
              </a:rPr>
              <a:t> financials/Annual%20Report/2017/FY17-ARS-FINAL-Printed-Report.pdf; Martha Heller, "Why CarMax's "Shock The System" Digital Strategy Is Working," CI O, April 26, 2017, </a:t>
            </a:r>
            <a:r>
              <a:rPr lang="en-US" sz="2000" dirty="0">
                <a:ea typeface="+mn-lt"/>
                <a:cs typeface="+mn-lt"/>
                <a:hlinkClick r:id="rId4"/>
              </a:rPr>
              <a:t>http://www.cio.com/article/3191884/careers-staffing/why-carmax-s-shock-the-system-digital-strategy-is-working.html</a:t>
            </a:r>
            <a:r>
              <a:rPr lang="en-US" sz="2000" dirty="0">
                <a:ea typeface="+mn-lt"/>
                <a:cs typeface="+mn-lt"/>
              </a:rPr>
              <a:t>; Shareen Pathak, "We're Not Google': How CarMax is trying to attract tech talent," Digi day, October 30, 2015,</a:t>
            </a:r>
            <a:endParaRPr lang="en-US" dirty="0"/>
          </a:p>
          <a:p>
            <a:r>
              <a:rPr lang="en-US" sz="2000" dirty="0">
                <a:ea typeface="+mn-lt"/>
                <a:cs typeface="+mn-lt"/>
                <a:hlinkClick r:id="rId5"/>
              </a:rPr>
              <a:t>https://digiday.com/marketing/not-google-carmax-trying</a:t>
            </a:r>
            <a:r>
              <a:rPr lang="en-US" sz="2000" dirty="0">
                <a:ea typeface="+mn-lt"/>
                <a:cs typeface="+mn-lt"/>
              </a:rPr>
              <a:t> attract-tech-talent; Shamin Mohammad,</a:t>
            </a:r>
            <a:endParaRPr lang="en-US" dirty="0"/>
          </a:p>
          <a:p>
            <a:r>
              <a:rPr lang="en-US" sz="2000" dirty="0">
                <a:ea typeface="+mn-lt"/>
                <a:cs typeface="+mn-lt"/>
              </a:rPr>
              <a:t>"CarMax, the Automobile Business with IT at the Core," CIO Review,</a:t>
            </a:r>
            <a:endParaRPr lang="en-US" dirty="0"/>
          </a:p>
          <a:p>
            <a:r>
              <a:rPr lang="en-US" sz="2000" dirty="0">
                <a:ea typeface="+mn-lt"/>
                <a:cs typeface="+mn-lt"/>
                <a:hlinkClick r:id="rId6"/>
              </a:rPr>
              <a:t>http://automotive.cioreview.com/cioviewpoint/carmax-the-automobile-business-with-it-at-the-core--nid-12777-cid-4.html</a:t>
            </a:r>
            <a:r>
              <a:rPr lang="en-US" sz="2000" dirty="0">
                <a:ea typeface="+mn-lt"/>
                <a:cs typeface="+mn-lt"/>
              </a:rPr>
              <a:t>, accessed June 12, 2017; and "IT Software Developer," CarMax, Inc., </a:t>
            </a:r>
            <a:r>
              <a:rPr lang="en-US" sz="2000" dirty="0">
                <a:ea typeface="+mn-lt"/>
                <a:cs typeface="+mn-lt"/>
                <a:hlinkClick r:id="rId7"/>
              </a:rPr>
              <a:t>http://webcore.cs.vt.edu/files/css/CarMax%20-%20IT%20Software%20Developer.pdf</a:t>
            </a:r>
            <a:endParaRPr lang="en-US" dirty="0">
              <a:ea typeface="+mn-lt"/>
              <a:cs typeface="+mn-lt"/>
            </a:endParaRPr>
          </a:p>
          <a:p>
            <a:r>
              <a:rPr lang="en-US" sz="2000" dirty="0">
                <a:ea typeface="+mn-lt"/>
                <a:cs typeface="+mn-lt"/>
                <a:hlinkClick r:id="rId8"/>
              </a:rPr>
              <a:t>Principles of Information Systems</a:t>
            </a:r>
            <a:r>
              <a:rPr lang="en-US" sz="2000" dirty="0">
                <a:ea typeface="+mn-lt"/>
                <a:cs typeface="+mn-lt"/>
              </a:rPr>
              <a:t> </a:t>
            </a:r>
          </a:p>
          <a:p>
            <a:r>
              <a:rPr lang="en-US" sz="2000" dirty="0">
                <a:ea typeface="+mn-lt"/>
                <a:cs typeface="+mn-lt"/>
                <a:hlinkClick r:id="rId9"/>
              </a:rPr>
              <a:t>Why you should buy a used car from CarMax</a:t>
            </a:r>
            <a:endParaRPr lang="en-US" sz="2000" dirty="0"/>
          </a:p>
        </p:txBody>
      </p:sp>
    </p:spTree>
    <p:extLst>
      <p:ext uri="{BB962C8B-B14F-4D97-AF65-F5344CB8AC3E}">
        <p14:creationId xmlns:p14="http://schemas.microsoft.com/office/powerpoint/2010/main" val="2857445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6755CA-9BA8-064B-5DBD-01CB1DF619A0}"/>
              </a:ext>
            </a:extLst>
          </p:cNvPr>
          <p:cNvSpPr>
            <a:spLocks noGrp="1"/>
          </p:cNvSpPr>
          <p:nvPr>
            <p:ph type="title"/>
          </p:nvPr>
        </p:nvSpPr>
        <p:spPr>
          <a:xfrm>
            <a:off x="1285241" y="1008993"/>
            <a:ext cx="9231410" cy="3542045"/>
          </a:xfrm>
        </p:spPr>
        <p:txBody>
          <a:bodyPr vert="horz" lIns="91440" tIns="45720" rIns="91440" bIns="45720" rtlCol="0" anchor="b">
            <a:normAutofit/>
          </a:bodyPr>
          <a:lstStyle/>
          <a:p>
            <a:pPr algn="ctr"/>
            <a:br>
              <a:rPr lang="en-US" sz="2900" kern="1200"/>
            </a:br>
            <a:br>
              <a:rPr lang="en-US" sz="2900" kern="1200"/>
            </a:br>
            <a:br>
              <a:rPr lang="en-US" sz="2900" kern="1200"/>
            </a:br>
            <a:r>
              <a:rPr lang="en-US" sz="2900"/>
              <a:t> </a:t>
            </a:r>
            <a:r>
              <a:rPr lang="en-US" sz="2900" kern="1200">
                <a:latin typeface="+mj-lt"/>
                <a:ea typeface="+mj-ea"/>
                <a:cs typeface="+mj-cs"/>
              </a:rPr>
              <a:t>Thank you for listening</a:t>
            </a:r>
            <a:r>
              <a:rPr lang="en-US" sz="2900"/>
              <a:t>,</a:t>
            </a:r>
            <a:r>
              <a:rPr lang="en-US" sz="2900" kern="1200">
                <a:latin typeface="+mj-lt"/>
                <a:ea typeface="+mj-ea"/>
                <a:cs typeface="+mj-cs"/>
              </a:rPr>
              <a:t> </a:t>
            </a:r>
            <a:br>
              <a:rPr lang="en-US" sz="2900" b="1" kern="1200"/>
            </a:br>
            <a:r>
              <a:rPr lang="en-US" sz="2900" b="1" kern="1200">
                <a:latin typeface="+mj-lt"/>
                <a:ea typeface="+mj-ea"/>
                <a:cs typeface="+mj-cs"/>
              </a:rPr>
              <a:t>		</a:t>
            </a:r>
            <a:r>
              <a:rPr lang="en-US" sz="2900" b="1"/>
              <a:t> </a:t>
            </a:r>
            <a:r>
              <a:rPr lang="en-US" sz="2900" b="1" kern="1200">
                <a:latin typeface="+mj-lt"/>
                <a:ea typeface="+mj-ea"/>
                <a:cs typeface="+mj-cs"/>
              </a:rPr>
              <a:t>Questions?</a:t>
            </a:r>
            <a:endParaRPr lang="en-US">
              <a:ea typeface="+mj-ea"/>
              <a:cs typeface="+mj-cs"/>
            </a:endParaRPr>
          </a:p>
        </p:txBody>
      </p:sp>
    </p:spTree>
    <p:extLst>
      <p:ext uri="{BB962C8B-B14F-4D97-AF65-F5344CB8AC3E}">
        <p14:creationId xmlns:p14="http://schemas.microsoft.com/office/powerpoint/2010/main" val="2800809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ab4b9284-d32e-4545-b9c3-80ddcaa65cd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CFCBBFE3BF58E43BE042365CD8E2C75" ma:contentTypeVersion="9" ma:contentTypeDescription="Create a new document." ma:contentTypeScope="" ma:versionID="1a30550e645e25a55288b174a18880cc">
  <xsd:schema xmlns:xsd="http://www.w3.org/2001/XMLSchema" xmlns:xs="http://www.w3.org/2001/XMLSchema" xmlns:p="http://schemas.microsoft.com/office/2006/metadata/properties" xmlns:ns3="ab4b9284-d32e-4545-b9c3-80ddcaa65cd0" xmlns:ns4="c087fab4-f532-4e78-8c4a-094f656fa37e" targetNamespace="http://schemas.microsoft.com/office/2006/metadata/properties" ma:root="true" ma:fieldsID="7ced60ab8a5896447ac76ad722d258e0" ns3:_="" ns4:_="">
    <xsd:import namespace="ab4b9284-d32e-4545-b9c3-80ddcaa65cd0"/>
    <xsd:import namespace="c087fab4-f532-4e78-8c4a-094f656fa37e"/>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element ref="ns3:MediaServiceObjectDetectorVersions"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4b9284-d32e-4545-b9c3-80ddcaa65c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087fab4-f532-4e78-8c4a-094f656fa37e"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769B06-EF9F-4B63-B5E7-44C665E48F17}">
  <ds:schemaRefs>
    <ds:schemaRef ds:uri="http://schemas.microsoft.com/sharepoint/v3/contenttype/forms"/>
  </ds:schemaRefs>
</ds:datastoreItem>
</file>

<file path=customXml/itemProps2.xml><?xml version="1.0" encoding="utf-8"?>
<ds:datastoreItem xmlns:ds="http://schemas.openxmlformats.org/officeDocument/2006/customXml" ds:itemID="{E3D8236B-419D-4C72-A8A2-55E9AC1C8C7D}">
  <ds:schemaRefs>
    <ds:schemaRef ds:uri="ab4b9284-d32e-4545-b9c3-80ddcaa65cd0"/>
    <ds:schemaRef ds:uri="http://schemas.microsoft.com/office/2006/metadata/properties"/>
    <ds:schemaRef ds:uri="http://schemas.microsoft.com/office/infopath/2007/PartnerControls"/>
    <ds:schemaRef ds:uri="http://www.w3.org/2000/xmlns/"/>
    <ds:schemaRef ds:uri="http://www.w3.org/2001/XMLSchema-instance"/>
  </ds:schemaRefs>
</ds:datastoreItem>
</file>

<file path=customXml/itemProps3.xml><?xml version="1.0" encoding="utf-8"?>
<ds:datastoreItem xmlns:ds="http://schemas.openxmlformats.org/officeDocument/2006/customXml" ds:itemID="{1B3ADFF9-B29F-4009-96DA-D4B8761DB9E4}">
  <ds:schemaRefs>
    <ds:schemaRef ds:uri="ab4b9284-d32e-4545-b9c3-80ddcaa65cd0"/>
    <ds:schemaRef ds:uri="c087fab4-f532-4e78-8c4a-094f656fa37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3</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Case Study #1: Customer-Focused Innovation Drives CarMax</vt:lpstr>
      <vt:lpstr>Overview of case- Rebekah Conner</vt:lpstr>
      <vt:lpstr>Case Question</vt:lpstr>
      <vt:lpstr>Question Continued</vt:lpstr>
      <vt:lpstr>Case Questions:  Based on their use of multi-functional product teams, what personal traits, technical skills, and non-technical skills do you think CarMax looks for in its information systems new hires?    </vt:lpstr>
      <vt:lpstr>  Overview of case- Yuritzi Ocampo</vt:lpstr>
      <vt:lpstr>Case Questions</vt:lpstr>
      <vt:lpstr>Overview of case- Leslie Velazquez</vt:lpstr>
      <vt:lpstr>Sources:</vt:lpstr>
      <vt:lpstr>    Thank you for listening,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#1: Customer-Focused Innovation Drives CarMax</dc:title>
  <dc:creator>cheyenne conner</dc:creator>
  <cp:revision>44</cp:revision>
  <dcterms:created xsi:type="dcterms:W3CDTF">2025-01-13T23:56:24Z</dcterms:created>
  <dcterms:modified xsi:type="dcterms:W3CDTF">2025-01-15T18:41:37Z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0x0101009CFCBBFE3BF58E43BE042365CD8E2C75</vt:lpwstr>
  </property>
</Properties>
</file>